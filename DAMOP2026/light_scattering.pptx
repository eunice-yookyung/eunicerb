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9" r:id="rId4"/>
    <p:sldId id="267" r:id="rId5"/>
    <p:sldId id="258" r:id="rId6"/>
    <p:sldId id="261" r:id="rId7"/>
    <p:sldId id="262" r:id="rId8"/>
    <p:sldId id="270" r:id="rId9"/>
    <p:sldId id="263" r:id="rId10"/>
    <p:sldId id="269" r:id="rId11"/>
    <p:sldId id="271" r:id="rId12"/>
    <p:sldId id="265" r:id="rId13"/>
    <p:sldId id="272" r:id="rId14"/>
    <p:sldId id="264" r:id="rId15"/>
    <p:sldId id="266" r:id="rId16"/>
    <p:sldId id="268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88889" autoAdjust="0"/>
  </p:normalViewPr>
  <p:slideViewPr>
    <p:cSldViewPr snapToGrid="0">
      <p:cViewPr varScale="1">
        <p:scale>
          <a:sx n="108" d="100"/>
          <a:sy n="108" d="100"/>
        </p:scale>
        <p:origin x="103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20C014-E8B5-4E3F-8854-C97ECEE6DF93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4F5336-ED42-4855-9ABF-C7A87AACE4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5528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https://www.ambong-ambong.com/blog/health-benefits-of-watching-sunsets/</a:t>
            </a:r>
          </a:p>
          <a:p>
            <a:r>
              <a:rPr lang="en-US" dirty="0"/>
              <a:t>https://news.mit.edu/2025/famous-double-slit-experiment-holds-when-stripped-to-quantum-essentials-0728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4F5336-ED42-4855-9ABF-C7A87AACE47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2738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Coherence spectroscopy</a:t>
            </a:r>
          </a:p>
          <a:p>
            <a:r>
              <a:rPr lang="en-US" dirty="0"/>
              <a:t>Doesn’t matter whether in a trap or whether in free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4F5336-ED42-4855-9ABF-C7A87AACE47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5843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5875D-7C4F-DEE1-5A33-1C45F50E7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439C1D-6880-54AB-7EC4-0B3587B231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969FF0-875B-C0BA-437B-2CF237A5C6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Coherence spectroscopy</a:t>
            </a:r>
          </a:p>
          <a:p>
            <a:r>
              <a:rPr lang="en-US" dirty="0"/>
              <a:t>Doesn’t matter whether in a trap or whether in free space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3A063-5AEE-E859-F2E0-F28857FAE3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4F5336-ED42-4855-9ABF-C7A87AACE47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47013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9E1BF-BBCB-B8B8-D0D6-F358994A94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95BC17-1BA4-069F-F2F7-4BC2F2DFD1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561E-2586-D337-479B-223F5688B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7CCD7-F87F-4E75-90FF-B8D20FD02CB8}" type="datetime1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6B3F94-9180-B394-9FF7-97AD65246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Light Scattering from Closely-Spaced Atom Pairs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3E788-36D7-E1E1-DDA0-BECD630BF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220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50BD1-CADE-7C00-7D04-AFBCFEA81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6C5C98-404D-04A0-04B6-1FCCEC3C1E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941E07-C2E4-1040-649A-105C186BD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EDDD84-7411-4657-9048-E904991F6E19}" type="datetime1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06966F-0B14-80FB-5F9E-5124AE4FC3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Light Scattering from Closely-Spaced Atom Pairs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06909A-2DCA-9A4B-7FC3-3449177DA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9943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E6456-0382-5267-4F05-34A13C9D4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DD25B0-1D9C-8CB9-B25E-9C99D742A5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B9E203-A855-8182-471D-2C76660EE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FCE8E2-BE18-4D35-B449-8D3629EE1B53}" type="datetime1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62991E-F270-5B36-1B60-C7D449C94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Light Scattering from Closely-Spaced Atom Pairs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1F8D96-19D5-77A2-FCA0-3D1390AE4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9223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E0C29-C6D3-98A1-9CE3-E5A18AF39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3D46AA-96F4-6C94-6B6A-2BE6A16980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1D00CF-8283-4797-8AEC-5A85D104A2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A4E4B9-D8D4-77AA-9B1A-CAB79640B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4B355D-26AC-4F4B-A64F-4DF06EE4D83C}" type="datetime1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1C70C5-D707-C381-4B3C-C4BEA573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Light Scattering from Closely-Spaced Atom Pairs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DF1227-0BED-62EA-9077-0009CA265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269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76881-2513-9EA2-BCE6-4BF161F04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259CC3-3C73-611D-D070-F8D74A639E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3A6A16-EDDC-D177-15B6-81F56A2E8D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CA4094-C675-6A62-0F3E-DD582CE9F1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3DABE3-8037-CCE8-3FD2-583C90C71C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A4C9C2-2076-B4C8-C477-A7110EDF8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A6021-E633-48F5-AB73-B00896EFA6D8}" type="datetime1">
              <a:rPr lang="en-US" smtClean="0"/>
              <a:t>5/26/2026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5A0592-56E1-F036-56E1-8065E14E1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Light Scattering from Closely-Spaced Atom Pairs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DF0026-6505-0681-60DF-FD6552D8B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090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5ACF6-50D1-D1A0-EA77-FF6B85223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EB6F4E-9ED2-2870-0015-781AC06A95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4D234A-3FB5-4107-ABB1-9004438D7448}" type="datetime1">
              <a:rPr lang="en-US" smtClean="0"/>
              <a:t>5/26/2026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2C3897-008B-EF68-DA61-252C2DDF0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Light Scattering from Closely-Spaced Atom Pairs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984018-BBB9-E2A5-C869-7909CA262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039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79C070-45F8-3E8C-1E2B-BF55E6864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DA536-CE13-418B-9126-A9E7F14B7255}" type="datetime1">
              <a:rPr lang="en-US" smtClean="0"/>
              <a:t>5/26/2026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A72B97-2DDC-69AF-9A81-61D0EC3F5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Light Scattering from Closely-Spaced Atom Pairs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1BA88C-841F-2C00-9F9B-23F9BE5E1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566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DA790-A5EA-E624-9938-CB807B9D9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86193-16C2-81E7-B895-84D5DAEC27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8F6AE3-15C7-C10C-8574-BECA59130A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72DA6A-63EC-0A85-7BC3-A856FAC70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260B8-D583-4767-BC6F-DD3F56127664}" type="datetime1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C86D9A-A0A8-F9E6-B884-5B66093569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Light Scattering from Closely-Spaced Atom Pairs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B2550A-461A-CB3D-81D5-1DA500FFB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71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EEC9F-E0F6-DFB0-8418-721283335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F7E69B-8F64-2CE3-15EB-436157532D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AB0904-6BDD-A1E8-BB9E-747AD03407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C3F892-D475-7531-ABC9-831CAD542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DAC74-4530-4405-BC55-95C68271A4CE}" type="datetime1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7F5543-65C6-20AD-9F4B-A72CC41C83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Light Scattering from Closely-Spaced Atom Pairs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6E761A-DFD2-AB99-3E77-D033BB993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93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01306-99DA-358E-15B0-35E0C8213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E28C62-2D9E-7B7F-B9FC-C4A681AD6E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956605-16D8-1CFD-4DA4-96048E087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8B96B-B592-4796-8AFE-FCEE52462285}" type="datetime1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64661B-2AFB-58CC-60EF-7E8C0B36DC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Light Scattering from Closely-Spaced Atom Pairs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E83934-86EC-1C5A-F8A6-19E3A71A2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184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AB03B7-F3BD-946C-70AB-76935F5BD1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909B49-9B62-F418-FE49-694A318B54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C391F4-88FE-C2A3-B6FF-7811BB9C6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3B322-7255-48EB-A4F7-BBCEFE4D16D6}" type="datetime1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A07DBF-589E-C061-07CB-AF1F138192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Light Scattering from Closely-Spaced Atom Pairs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F9CCC1-0D94-DFDE-E26A-E1ADF6517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6754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09A32F-9919-ADA2-DE8C-3C851FF00B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494A77-35D2-BCB1-F7AE-142B0194C8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341B1-67CB-715F-B08A-34BA06FD92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8C89F7-7D2F-4F6A-BE0F-97040057E9B5}" type="datetime1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84E206-AA54-6E89-641F-E09342F863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Light Scattering from Closely-Spaced Atom Pairs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DA389A-90F4-B586-801B-80314F7E86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8CFF8F-6617-428E-9314-96DE529C9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001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jp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7D90F-73D9-BFAE-3741-453CDEF5E2C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Light Scattering from Closely Spaced Atom Pairs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20540F-86A1-F912-55FF-7C1FA0FE83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Yoo Kyung Lee</a:t>
            </a:r>
          </a:p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This work: Massachusetts Institute of Technology</a:t>
            </a:r>
          </a:p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Current affiliation: Harvard University</a:t>
            </a:r>
            <a:endParaRPr lang="en-US" sz="1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3C14DB-0B14-7034-3849-0A9653616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479-5FF1-484E-8D58-1216D223D9E9}" type="datetime1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7A5868-F40B-2857-5177-47492A2C1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Light Scattering from Closely-Spaced Atom Pairs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36C339-88DE-FC3B-C08D-5D6E4D49D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770C56A-8831-EFE4-D611-8C74195834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858142" cy="329608"/>
          </a:xfrm>
          <a:prstGeom prst="rect">
            <a:avLst/>
          </a:prstGeom>
        </p:spPr>
      </p:pic>
      <p:pic>
        <p:nvPicPr>
          <p:cNvPr id="9" name="Picture 8" descr="Massachusetts Institute of Technology Logo, PNG, Symbol ...">
            <a:extLst>
              <a:ext uri="{FF2B5EF4-FFF2-40B4-BE49-F238E27FC236}">
                <a16:creationId xmlns:a16="http://schemas.microsoft.com/office/drawing/2014/main" id="{B02AACEF-AFDF-48B5-C605-C35720A2CC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297" y="-124993"/>
            <a:ext cx="1031359" cy="580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08474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E66F4-E6C5-8E2E-BF07-B18B53836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Light Scattering from Single Atoms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48FBC-50D4-5C52-7C17-BFA648E9BDF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/>
              <a:t>Rayleigh scattering</a:t>
            </a:r>
          </a:p>
          <a:p>
            <a:endParaRPr lang="en-US" sz="2400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809D620-AD2C-3A13-0CBA-27F8025EA7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825625"/>
            <a:ext cx="5181600" cy="41845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/>
              <a:t>Double-slit gedankenexperiment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B6272B-2741-7807-5743-B580B9D97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FC380-EFE0-476E-B5C0-92FF516CBFDE}" type="datetime1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B17D1E-A679-C7B9-E5C5-21BBCD791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Light Scattering from Closely-Spaced Atom Pairs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0F5357-B9CC-85AC-74FF-F80C6FFAE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2</a:t>
            </a:fld>
            <a:endParaRPr lang="en-US"/>
          </a:p>
        </p:txBody>
      </p:sp>
      <p:pic>
        <p:nvPicPr>
          <p:cNvPr id="8" name="Picture 7" descr="sunset">
            <a:extLst>
              <a:ext uri="{FF2B5EF4-FFF2-40B4-BE49-F238E27FC236}">
                <a16:creationId xmlns:a16="http://schemas.microsoft.com/office/drawing/2014/main" id="{B115469A-A81E-B56D-54AF-038AF03D4D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012" y="2364121"/>
            <a:ext cx="5025975" cy="33506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ED3D21-1DAA-463B-B98C-B78D4DDAE6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6201" y="4547590"/>
            <a:ext cx="3089530" cy="176602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EE428A0-7E6B-CD5C-FF45-6B5E9F20A2E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6200" y="2244077"/>
            <a:ext cx="2893600" cy="179536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113DDF2-2F24-1C5D-3CC8-CA59EB5FC4ED}"/>
              </a:ext>
            </a:extLst>
          </p:cNvPr>
          <p:cNvSpPr txBox="1"/>
          <p:nvPr/>
        </p:nvSpPr>
        <p:spPr>
          <a:xfrm>
            <a:off x="6096000" y="424459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/>
              <a:t>Mössbauer (recoilless) scattering</a:t>
            </a:r>
          </a:p>
        </p:txBody>
      </p:sp>
    </p:spTree>
    <p:extLst>
      <p:ext uri="{BB962C8B-B14F-4D97-AF65-F5344CB8AC3E}">
        <p14:creationId xmlns:p14="http://schemas.microsoft.com/office/powerpoint/2010/main" val="106263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9A70C-5681-490F-40D5-D02528EDD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Collective Scattering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43BF8-32D4-E83B-64CA-215543AD81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Quantum control over light-matter interactions</a:t>
            </a:r>
          </a:p>
          <a:p>
            <a:r>
              <a:rPr lang="en-US" dirty="0"/>
              <a:t>Photoassociation</a:t>
            </a:r>
          </a:p>
          <a:p>
            <a:r>
              <a:rPr lang="en-US" dirty="0"/>
              <a:t>Atomically thin mirrors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EFDE-95D3-7BF7-B6F1-5C1D3D143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8C808-0C09-43D5-A611-4F407D1814EC}" type="datetime1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46B8-AD19-B972-F019-D3AABEFB7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Light Scattering from Closely-Spaced Atom Pairs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E35D92-BEC8-B9DA-5A1A-24781DAA0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9447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48317-AE3A-D648-C141-7FC0AE71F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Dicke Superradiance, Dipole-Dipole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E40C2-B170-C691-C2BB-4620E6DBC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Dicke superradiance, the Dicke ladder</a:t>
            </a:r>
          </a:p>
          <a:p>
            <a:r>
              <a:rPr lang="en-US" dirty="0"/>
              <a:t>Dipole-dipole interactions</a:t>
            </a:r>
          </a:p>
          <a:p>
            <a:r>
              <a:rPr lang="en-US" dirty="0"/>
              <a:t>Scattering length and Busch picture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5C85B1-B4B3-3E70-7CF4-39A9029C6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4D60C-AFC1-4DF1-AAFE-C428D5996437}" type="datetime1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EF4392-5A33-2109-520B-63CF31620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Light Scattering from Closely-Spaced Atom Pairs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F4A6B-C06D-0E49-61C1-C3962D93D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4903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44026-157F-9B7A-0CD1-7EB2E0E8F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Interactions in Light Scattering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F38AF4-4E96-7D6D-AD0C-99DBEDCF1E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526619" cy="4351338"/>
          </a:xfrm>
        </p:spPr>
        <p:txBody>
          <a:bodyPr/>
          <a:lstStyle/>
          <a:p>
            <a:r>
              <a:rPr lang="en-US" dirty="0"/>
              <a:t>Condon region of the dipole-dipole interaction</a:t>
            </a:r>
          </a:p>
          <a:p>
            <a:r>
              <a:rPr lang="en-US" dirty="0"/>
              <a:t>Blue-detuned shielding</a:t>
            </a:r>
          </a:p>
          <a:p>
            <a:r>
              <a:rPr lang="en-US" dirty="0"/>
              <a:t>Interplay between the confinement, scattering length, and the dipole-dipole interaction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6C43B-6A76-54DD-3F62-025C23B54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BF92F-50A1-484D-81C5-1588E816C27C}" type="datetime1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A95F24-DA7B-0CB0-6061-D5CD935D2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Light Scattering from Closely-Spaced Atom Pairs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08833-FE08-0A5B-A70F-DA1C5FA9D8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7EFF148-093E-244E-7696-3AD9742558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49" y="1690688"/>
            <a:ext cx="3577123" cy="405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429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2FBFE03-C0D2-7B47-8AC1-1807B7DAC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Experiments and 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97B2A-C535-366F-01C3-1766D3E95A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Coherent and Incoherent Light Scattering by Single Atoms and Atom Pairs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7CE018D-AC15-D51E-F233-C69C2FBADD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EB00A-7316-4857-9712-8513A528C3C5}" type="datetime1">
              <a:rPr lang="en-US" smtClean="0"/>
              <a:t>5/26/2026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C2CE9C1-8FE3-29A6-BCBD-2D539D032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Light Scattering from Closely-Spaced Atom Pairs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E152098-7956-6222-C935-04BFA6915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8419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9B9F2-D86B-77DA-F8E8-902434D16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Coherent vs Incoherent Light Scattering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BE3E0C-7D65-2B75-D1D2-CEF82E82BF1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4660056" cy="4351338"/>
              </a:xfrm>
            </p:spPr>
            <p:txBody>
              <a:bodyPr>
                <a:noAutofit/>
              </a:bodyPr>
              <a:lstStyle/>
              <a:p>
                <a:r>
                  <a:rPr lang="en-US" sz="2000" dirty="0"/>
                  <a:t>Observed intensity</a:t>
                </a:r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r>
                  <a:rPr lang="en-US" sz="2000" dirty="0"/>
                  <a:t>Debye-Waller factor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D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exp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m:rPr>
                            <m:sty m:val="p"/>
                          </m:rPr>
                          <a:rPr lang="el-GR" sz="20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r>
                  <a:rPr lang="en-US" sz="2000" dirty="0"/>
                  <a:t>Structure factor S(Q) = S(θ, φ)</a:t>
                </a:r>
              </a:p>
              <a:p>
                <a:r>
                  <a:rPr lang="en-US" sz="2000" dirty="0"/>
                  <a:t>Coherent light destructively interferes</a:t>
                </a:r>
              </a:p>
              <a:p>
                <a:r>
                  <a:rPr lang="en-US" sz="2000" dirty="0"/>
                  <a:t>Does the presence of the trap matter?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BE3E0C-7D65-2B75-D1D2-CEF82E82BF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4660056" cy="4351338"/>
              </a:xfrm>
              <a:blipFill>
                <a:blip r:embed="rId3"/>
                <a:stretch>
                  <a:fillRect l="-1178" t="-1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565643-5680-E56C-EE06-3EBB1798A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ABDE37-A3C8-4B9D-8836-9DACBCDB21F0}" type="datetime1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F0AD16-AC7B-70FC-8EDF-2C811997EA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Light Scattering from Closely-Spaced Atom Pairs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151628-BB51-16EB-EDF4-6F139B9C1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7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79675A7-F0AF-6B5B-6141-E0D74715CA8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6539"/>
          <a:stretch>
            <a:fillRect/>
          </a:stretch>
        </p:blipFill>
        <p:spPr>
          <a:xfrm>
            <a:off x="1100194" y="2190672"/>
            <a:ext cx="3814405" cy="88566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90B2A7C-12D4-66AF-A885-56709F0503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6549" y="2383920"/>
            <a:ext cx="2489791" cy="3793043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8AB6DA60-AB0E-8BC5-B04C-BCCF982EA0EC}"/>
              </a:ext>
            </a:extLst>
          </p:cNvPr>
          <p:cNvGrpSpPr/>
          <p:nvPr/>
        </p:nvGrpSpPr>
        <p:grpSpPr>
          <a:xfrm>
            <a:off x="5614903" y="2790954"/>
            <a:ext cx="3324999" cy="2420679"/>
            <a:chOff x="5731550" y="3540980"/>
            <a:chExt cx="3324999" cy="2420679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9493F4A8-A586-0159-0DE4-88F3F7D103D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882220" y="3540980"/>
              <a:ext cx="3174329" cy="2420679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B73DB27-7467-6875-2FDB-55C2E4C932FB}"/>
                </a:ext>
              </a:extLst>
            </p:cNvPr>
            <p:cNvSpPr txBox="1"/>
            <p:nvPr/>
          </p:nvSpPr>
          <p:spPr>
            <a:xfrm>
              <a:off x="5731550" y="3826359"/>
              <a:ext cx="97052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Mott </a:t>
              </a:r>
            </a:p>
            <a:p>
              <a:r>
                <a:rPr lang="en-US" sz="1600" dirty="0"/>
                <a:t>insulator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384789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3B4FA-0521-564A-175F-CA4872E53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657CF-1F40-0A17-8B0D-641A79BC5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 Trap Needed for Coherent Scattering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ECEBD9-5C44-5173-39FC-13F206BF91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701571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No; the light is coherent even without a trap!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CF18824-2D84-B3FB-11EE-69AFF25EC9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136411" y="5433065"/>
            <a:ext cx="2920409" cy="754358"/>
          </a:xfrm>
          <a:solidFill>
            <a:schemeClr val="accent3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What happens with two atoms?</a:t>
            </a:r>
          </a:p>
          <a:p>
            <a:endParaRPr lang="en-US" sz="24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08B4AD-5AC7-A39C-6B2D-FD417C301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ABDE37-A3C8-4B9D-8836-9DACBCDB21F0}" type="datetime1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47481-E326-6C9F-F402-E10ABEC75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Light Scattering from Closely-Spaced Atom Pairs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47DD1-5441-453C-8015-CDE21246C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8</a:t>
            </a:fld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CEFFE6A-D336-1782-5639-D91DD848E5EA}"/>
              </a:ext>
            </a:extLst>
          </p:cNvPr>
          <p:cNvGrpSpPr/>
          <p:nvPr/>
        </p:nvGrpSpPr>
        <p:grpSpPr>
          <a:xfrm>
            <a:off x="1129585" y="2246468"/>
            <a:ext cx="9436366" cy="4065432"/>
            <a:chOff x="816687" y="2486155"/>
            <a:chExt cx="8266614" cy="3604125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3A354167-EBDB-351B-07DB-6B96D5AFE21A}"/>
                </a:ext>
              </a:extLst>
            </p:cNvPr>
            <p:cNvGrpSpPr/>
            <p:nvPr/>
          </p:nvGrpSpPr>
          <p:grpSpPr>
            <a:xfrm>
              <a:off x="816687" y="2486155"/>
              <a:ext cx="5783656" cy="3604125"/>
              <a:chOff x="816687" y="2486155"/>
              <a:chExt cx="5783656" cy="3604125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4714880F-5CA8-DF6F-D47D-5591F3A11D5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21318" y="2486155"/>
                <a:ext cx="5379025" cy="3030278"/>
              </a:xfrm>
              <a:prstGeom prst="rect">
                <a:avLst/>
              </a:prstGeom>
            </p:spPr>
          </p:pic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244EBF3-4B65-D6A5-0B52-3C8F230F0595}"/>
                  </a:ext>
                </a:extLst>
              </p:cNvPr>
              <p:cNvSpPr txBox="1"/>
              <p:nvPr/>
            </p:nvSpPr>
            <p:spPr>
              <a:xfrm>
                <a:off x="816687" y="5782503"/>
                <a:ext cx="80926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Trap ON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A372000-5CBE-9D3A-00B3-3C418C283A47}"/>
                  </a:ext>
                </a:extLst>
              </p:cNvPr>
              <p:cNvSpPr txBox="1"/>
              <p:nvPr/>
            </p:nvSpPr>
            <p:spPr>
              <a:xfrm>
                <a:off x="2048618" y="5769171"/>
                <a:ext cx="87177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Trap OFF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01C0E05E-A2E0-6170-C18C-15093BC1E17C}"/>
                  </a:ext>
                </a:extLst>
              </p:cNvPr>
              <p:cNvCxnSpPr/>
              <p:nvPr/>
            </p:nvCxnSpPr>
            <p:spPr>
              <a:xfrm flipV="1">
                <a:off x="1221317" y="4784651"/>
                <a:ext cx="657102" cy="92148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E97FA8D1-2A35-3F42-5055-E19DA1578E7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209800" y="4784651"/>
                <a:ext cx="91289" cy="46074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EB9B827E-8624-9DD1-0E24-0ADB525EE19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376784" y="5581520"/>
                <a:ext cx="45720" cy="228600"/>
              </a:xfrm>
              <a:prstGeom prst="straightConnector1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7055BFA4-E74C-97E7-B077-79842E045F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08638" y="2738269"/>
              <a:ext cx="2174663" cy="227675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877814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F35EE-8585-A552-0F56-A9AC6DA7C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Scattering from Closely-Spaced Pairs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C1E21-ACD0-5E7A-425E-B49C9F0CCF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Mott insulator with a core of doubly occupied sites</a:t>
            </a:r>
          </a:p>
          <a:p>
            <a:r>
              <a:rPr lang="en-US" dirty="0"/>
              <a:t>Remove single atoms to a near-dark state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99FA72-2829-65F7-A13E-243D8342D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64C45F-07F1-4B0C-AEA1-B5BF383FC892}" type="datetime1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7C9923-684A-A860-65AD-493F85C6A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Light Scattering from Closely-Spaced Atom Pairs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9EF424-4BC6-5D6E-A3C2-D10DDDFB97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9</a:t>
            </a:fld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2D30B28-1253-591E-4631-AAAE9EA404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1935" y="2975688"/>
            <a:ext cx="6748130" cy="2783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4321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159D9-97B1-CFBE-B0A7-75D5A4466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Dicke superradiance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501525-BDF5-9841-055D-F94A5AD185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N-times enhancement of light scattering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1524A1-C95E-0082-09F2-7C8794DA9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EDDD84-7411-4657-9048-E904991F6E19}" type="datetime1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03C74F-5666-F11B-3A6D-6B7464CC4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Light Scattering from Closely-Spaced Atom Pairs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18447-E9BA-34D5-6473-E72A0F897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10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67B6932-A37B-C909-786A-11E2DF3FF9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3079363"/>
            <a:ext cx="6904074" cy="2199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21193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CC85C-3314-E3A2-5094-318832E9C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Including Interactions: the Condon Region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4E9DC-0C01-5785-8247-0766F84572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There is always some fraction of resonant scattering due to the dipole-dipole shift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DC725F-5A76-13A8-28F9-E339325C9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EDDD84-7411-4657-9048-E904991F6E19}" type="datetime1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25159B-2D0F-AA5C-0E6B-32A8389A8D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Light Scattering from Closely-Spaced Atom Pairs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5A449E-E068-E36A-20A9-BEA5074C0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11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FB8BC85-0318-49C1-EB4E-6A1201877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9966" y="3084488"/>
            <a:ext cx="3652017" cy="295939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A5D43E9-6045-F06C-4810-64A39BA9EF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6798" y="2988926"/>
            <a:ext cx="3647002" cy="30549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61A2BA-205C-6459-49A8-60D1176A25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912" y="2988926"/>
            <a:ext cx="2607482" cy="2959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9882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F052D-9D14-751C-5A6C-965D31CE7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Resonantly ejected atoms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1E6044-C0BD-835A-D624-1F4A62E0C8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Fluorescence imaging after time-of-flight for different detuning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F64A94-7649-4E44-0684-0CF06550E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200CB-327C-4CFF-AB9A-166E0F118EC0}" type="datetime1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1F46A-2F78-0D75-F0F2-0997CA7B7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Light Scattering from Closely-Spaced Atom Pairs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464D4E-6040-76A1-D0DF-2A6E581D8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12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1CB6B07-4FCF-AA53-604C-EC164106EE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6446" y="2226030"/>
            <a:ext cx="5744154" cy="413032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1717294-88A3-DA90-46F6-840025601D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284" y="2349703"/>
            <a:ext cx="2367516" cy="330318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5BBFD83-4E9D-305F-E0AD-3F28AD76F6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251" y="2975153"/>
            <a:ext cx="2114359" cy="2399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2364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1D85A-599E-A8AB-C4B4-835FD194E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Pulse duration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237EAA-7ED2-FDE9-DE9E-8D662B0B08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Various pulse duration shows the fraction of resonantly ejected atoms increases, but Condon region is depleted faster than it is filled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61D475-B77B-1622-3F7F-45217CA2D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EDDD84-7411-4657-9048-E904991F6E19}" type="datetime1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1EA7C4-D02B-1C12-A196-BB89B7321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Light Scattering from Closely-Spaced Atom Pairs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B454A-AF89-8008-57B9-584173B6A0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13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763439-6DA8-61EC-AB0C-B5274A870F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4614" y="2980745"/>
            <a:ext cx="8002772" cy="2892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7833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8746D-72C4-3C3F-1205-B5C94551C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Altering Wavefunction with Scattering Length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16534E-3BDF-C4D2-BBE4-E44E4C26E8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Scattering length changes two-particle wavefunction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ADD028-BDFB-6A1F-8AE6-3ED9AD051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ECD26-ECA3-4ADE-86E6-5D0E6D6DC887}" type="datetime1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6886A1-4B73-DA60-4853-DDFFABAA1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Light Scattering from Closely-Spaced Atom Pairs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B3C4A2-505B-CB64-ABC4-AF7C24EF3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14</a:t>
            </a:fld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E8C5475-B865-447C-4FF0-4CBB229A90BD}"/>
              </a:ext>
            </a:extLst>
          </p:cNvPr>
          <p:cNvGrpSpPr/>
          <p:nvPr/>
        </p:nvGrpSpPr>
        <p:grpSpPr>
          <a:xfrm>
            <a:off x="999461" y="2389550"/>
            <a:ext cx="1825833" cy="3854882"/>
            <a:chOff x="907312" y="2322081"/>
            <a:chExt cx="1825833" cy="3854882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DA4D97EB-706D-05E5-BF86-809DFE2D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49916"/>
            <a:stretch>
              <a:fillRect/>
            </a:stretch>
          </p:blipFill>
          <p:spPr>
            <a:xfrm>
              <a:off x="964019" y="2322081"/>
              <a:ext cx="1769126" cy="201489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1327216C-F987-4D0B-0DFC-B5EC009EA8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49916"/>
            <a:stretch>
              <a:fillRect/>
            </a:stretch>
          </p:blipFill>
          <p:spPr>
            <a:xfrm>
              <a:off x="907312" y="4162067"/>
              <a:ext cx="1769126" cy="2014896"/>
            </a:xfrm>
            <a:prstGeom prst="rect">
              <a:avLst/>
            </a:prstGeom>
          </p:spPr>
        </p:pic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6B00B7D2-C7C8-9DDC-E051-C37B24B7DA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0628" y="2664889"/>
            <a:ext cx="7731525" cy="2835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7662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708C6-1B83-8592-19B1-7783F427F6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Outlook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6222C2-D7CA-95C4-05ED-4A48696136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Light-induced dipole-dipole interactions</a:t>
            </a:r>
          </a:p>
          <a:p>
            <a:r>
              <a:rPr lang="en-US" dirty="0"/>
              <a:t>Three atoms on a site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23A20E-E21C-8897-946B-65EE5A253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5D5417-AE7C-452B-8F7B-3AC2E49F768F}" type="datetime1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74928-DE59-855D-5300-2CFF3E031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Light Scattering from Closely-Spaced Atom Pairs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347D31-02BD-55F1-DD90-5BC1D3946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1195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A8B09-2D8D-34DF-43B8-37684B14E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Acknowledgments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A9423C-172D-AD89-ABEE-F742E03251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Ketterle group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06F2C6-3B41-5169-9A7D-C85A2824C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EDDD84-7411-4657-9048-E904991F6E19}" type="datetime1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46E931-C056-23B6-FE33-8F04DBC468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Light Scattering from Closely-Spaced Atom Pairs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07BE73-5400-4182-82D8-8C7605EB3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8CFF8F-6617-428E-9314-96DE529C98C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0015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</TotalTime>
  <Words>452</Words>
  <Application>Microsoft Office PowerPoint</Application>
  <PresentationFormat>Widescreen</PresentationFormat>
  <Paragraphs>116</Paragraphs>
  <Slides>16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Office Theme</vt:lpstr>
      <vt:lpstr>Light Scattering from Closely Spaced Atom Pairs</vt:lpstr>
      <vt:lpstr>Light Scattering from Single Atoms</vt:lpstr>
      <vt:lpstr>Collective Scattering</vt:lpstr>
      <vt:lpstr>Dicke Superradiance, Dipole-Dipole Effects</vt:lpstr>
      <vt:lpstr>Interactions in Light Scattering</vt:lpstr>
      <vt:lpstr>Experiments and Results</vt:lpstr>
      <vt:lpstr>Coherent vs Incoherent Light Scattering</vt:lpstr>
      <vt:lpstr>No Trap Needed for Coherent Scattering</vt:lpstr>
      <vt:lpstr>Scattering from Closely-Spaced Pairs</vt:lpstr>
      <vt:lpstr>Dicke superradiance</vt:lpstr>
      <vt:lpstr>Including Interactions: the Condon Region</vt:lpstr>
      <vt:lpstr>Resonantly ejected atoms</vt:lpstr>
      <vt:lpstr>Pulse duration</vt:lpstr>
      <vt:lpstr>Altering Wavefunction with Scattering Length</vt:lpstr>
      <vt:lpstr>Outlook</vt:lpstr>
      <vt:lpstr>Acknowledgments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eunice.yookyung.phy@gmail.com</dc:creator>
  <cp:lastModifiedBy>eunice.yookyung.phy@gmail.com</cp:lastModifiedBy>
  <cp:revision>3</cp:revision>
  <dcterms:created xsi:type="dcterms:W3CDTF">2026-05-26T14:10:21Z</dcterms:created>
  <dcterms:modified xsi:type="dcterms:W3CDTF">2026-05-26T19:09:08Z</dcterms:modified>
</cp:coreProperties>
</file>