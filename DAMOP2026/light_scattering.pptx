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9" r:id="rId4"/>
    <p:sldId id="258" r:id="rId5"/>
    <p:sldId id="261" r:id="rId6"/>
    <p:sldId id="262" r:id="rId7"/>
    <p:sldId id="270" r:id="rId8"/>
    <p:sldId id="263" r:id="rId9"/>
    <p:sldId id="269" r:id="rId10"/>
    <p:sldId id="273" r:id="rId11"/>
    <p:sldId id="271" r:id="rId12"/>
    <p:sldId id="265" r:id="rId13"/>
    <p:sldId id="264" r:id="rId14"/>
    <p:sldId id="266" r:id="rId15"/>
    <p:sldId id="268" r:id="rId16"/>
    <p:sldId id="272" r:id="rId17"/>
    <p:sldId id="275" r:id="rId18"/>
    <p:sldId id="276"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F99"/>
    <a:srgbClr val="FF9999"/>
    <a:srgbClr val="F7FE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75755" autoAdjust="0"/>
  </p:normalViewPr>
  <p:slideViewPr>
    <p:cSldViewPr snapToGrid="0">
      <p:cViewPr varScale="1">
        <p:scale>
          <a:sx n="92" d="100"/>
          <a:sy n="92" d="100"/>
        </p:scale>
        <p:origin x="16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20C014-E8B5-4E3F-8854-C97ECEE6DF93}" type="datetimeFigureOut">
              <a:rPr lang="en-US" smtClean="0"/>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4F5336-ED42-4855-9ABF-C7A87AACE470}" type="slidenum">
              <a:rPr lang="en-US" smtClean="0"/>
              <a:t>‹#›</a:t>
            </a:fld>
            <a:endParaRPr lang="en-US"/>
          </a:p>
        </p:txBody>
      </p:sp>
    </p:spTree>
    <p:extLst>
      <p:ext uri="{BB962C8B-B14F-4D97-AF65-F5344CB8AC3E}">
        <p14:creationId xmlns:p14="http://schemas.microsoft.com/office/powerpoint/2010/main" val="2719552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https://www.ambong-ambong.com/blog/health-benefits-of-watching-sunsets/</a:t>
            </a:r>
          </a:p>
          <a:p>
            <a:r>
              <a:rPr lang="en-US" dirty="0"/>
              <a:t>https://news.mit.edu/2025/famous-double-slit-experiment-holds-when-stripped-to-quantum-essentials-0728</a:t>
            </a:r>
          </a:p>
          <a:p>
            <a:r>
              <a:rPr lang="en-US" dirty="0"/>
              <a:t>Blue sky</a:t>
            </a:r>
          </a:p>
          <a:p>
            <a:r>
              <a:rPr lang="en-US" dirty="0"/>
              <a:t>Orange sky</a:t>
            </a:r>
          </a:p>
          <a:p>
            <a:r>
              <a:rPr lang="en-US" dirty="0"/>
              <a:t>Sunbeams - crepuscular rays on dust motes in the atmosphere</a:t>
            </a:r>
          </a:p>
          <a:p>
            <a:r>
              <a:rPr lang="en-US" dirty="0"/>
              <a:t>Clouds</a:t>
            </a:r>
          </a:p>
          <a:p>
            <a:r>
              <a:rPr lang="en-US" dirty="0"/>
              <a:t>Reflections from the water</a:t>
            </a:r>
          </a:p>
          <a:p>
            <a:endParaRPr lang="en-US" dirty="0"/>
          </a:p>
          <a:p>
            <a:r>
              <a:rPr lang="en-US" dirty="0"/>
              <a:t>Going forward</a:t>
            </a:r>
          </a:p>
          <a:p>
            <a:r>
              <a:rPr lang="en-US" dirty="0"/>
              <a:t>Furthermore, we consider the perturbative limit of weak excitation and we assume that the atoms scatter light independently which is valid for sufficiently far-detuned light. </a:t>
            </a:r>
          </a:p>
        </p:txBody>
      </p:sp>
      <p:sp>
        <p:nvSpPr>
          <p:cNvPr id="4" name="Slide Number Placeholder 3"/>
          <p:cNvSpPr>
            <a:spLocks noGrp="1"/>
          </p:cNvSpPr>
          <p:nvPr>
            <p:ph type="sldNum" sz="quarter" idx="5"/>
          </p:nvPr>
        </p:nvSpPr>
        <p:spPr/>
        <p:txBody>
          <a:bodyPr/>
          <a:lstStyle/>
          <a:p>
            <a:fld id="{D44F5336-ED42-4855-9ABF-C7A87AACE470}" type="slidenum">
              <a:rPr lang="en-US" smtClean="0"/>
              <a:t>2</a:t>
            </a:fld>
            <a:endParaRPr lang="en-US"/>
          </a:p>
        </p:txBody>
      </p:sp>
    </p:spTree>
    <p:extLst>
      <p:ext uri="{BB962C8B-B14F-4D97-AF65-F5344CB8AC3E}">
        <p14:creationId xmlns:p14="http://schemas.microsoft.com/office/powerpoint/2010/main" val="1068273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phenomena arise when atoms scatter light </a:t>
            </a:r>
            <a:r>
              <a:rPr lang="en-US" dirty="0" err="1"/>
              <a:t>notindependently</a:t>
            </a:r>
            <a:r>
              <a:rPr lang="en-US" dirty="0"/>
              <a:t> but cooperatively. For instance, </a:t>
            </a:r>
            <a:r>
              <a:rPr lang="en-US" dirty="0" err="1"/>
              <a:t>construc-tive</a:t>
            </a:r>
            <a:r>
              <a:rPr lang="en-US" dirty="0"/>
              <a:t> and destructive interference lead to superradiant </a:t>
            </a:r>
            <a:r>
              <a:rPr lang="en-US" dirty="0" err="1"/>
              <a:t>andsubradiant</a:t>
            </a:r>
            <a:r>
              <a:rPr lang="en-US" dirty="0"/>
              <a:t> states. More recently, this has become a </a:t>
            </a:r>
            <a:r>
              <a:rPr lang="en-US" dirty="0" err="1"/>
              <a:t>veryactive</a:t>
            </a:r>
            <a:r>
              <a:rPr lang="en-US" dirty="0"/>
              <a:t> frontier for quantum control of photons in </a:t>
            </a:r>
            <a:r>
              <a:rPr lang="en-US" dirty="0" err="1"/>
              <a:t>atomarrays</a:t>
            </a:r>
            <a:r>
              <a:rPr lang="en-US" dirty="0"/>
              <a:t>, for approaching the highest precision in </a:t>
            </a:r>
            <a:r>
              <a:rPr lang="en-US" dirty="0" err="1"/>
              <a:t>atomicclocks</a:t>
            </a:r>
            <a:r>
              <a:rPr lang="en-US" dirty="0"/>
              <a:t>, and as a novel many-body system [1–4]. </a:t>
            </a:r>
            <a:r>
              <a:rPr lang="en-US" dirty="0" err="1"/>
              <a:t>Theproperties</a:t>
            </a:r>
            <a:r>
              <a:rPr lang="en-US" dirty="0"/>
              <a:t> of correlated light scattering change </a:t>
            </a:r>
            <a:r>
              <a:rPr lang="en-US" dirty="0" err="1"/>
              <a:t>qualita-tively</a:t>
            </a:r>
            <a:r>
              <a:rPr lang="en-US" dirty="0"/>
              <a:t> when the separation of atoms becomes smaller </a:t>
            </a:r>
            <a:r>
              <a:rPr lang="en-US" dirty="0" err="1"/>
              <a:t>thanλ</a:t>
            </a:r>
            <a:r>
              <a:rPr lang="en-US" dirty="0"/>
              <a:t> ≡ λ/2π, the reduced wavelength. For instance, the in-</a:t>
            </a:r>
            <a:r>
              <a:rPr lang="en-US" dirty="0" err="1"/>
              <a:t>teraction</a:t>
            </a:r>
            <a:r>
              <a:rPr lang="en-US" dirty="0"/>
              <a:t> of oscillating dipoles becomes dominated by </a:t>
            </a:r>
            <a:r>
              <a:rPr lang="en-US" dirty="0" err="1"/>
              <a:t>theshort</a:t>
            </a:r>
            <a:r>
              <a:rPr lang="en-US" dirty="0"/>
              <a:t>-range 1/r3 interaction, and not the retarded </a:t>
            </a:r>
            <a:r>
              <a:rPr lang="en-US" dirty="0" err="1"/>
              <a:t>longrange</a:t>
            </a:r>
            <a:r>
              <a:rPr lang="en-US" dirty="0"/>
              <a:t> 1/r part.</a:t>
            </a:r>
          </a:p>
        </p:txBody>
      </p:sp>
      <p:sp>
        <p:nvSpPr>
          <p:cNvPr id="4" name="Slide Number Placeholder 3"/>
          <p:cNvSpPr>
            <a:spLocks noGrp="1"/>
          </p:cNvSpPr>
          <p:nvPr>
            <p:ph type="sldNum" sz="quarter" idx="5"/>
          </p:nvPr>
        </p:nvSpPr>
        <p:spPr/>
        <p:txBody>
          <a:bodyPr/>
          <a:lstStyle/>
          <a:p>
            <a:fld id="{D44F5336-ED42-4855-9ABF-C7A87AACE470}" type="slidenum">
              <a:rPr lang="en-US" smtClean="0"/>
              <a:t>3</a:t>
            </a:fld>
            <a:endParaRPr lang="en-US"/>
          </a:p>
        </p:txBody>
      </p:sp>
    </p:spTree>
    <p:extLst>
      <p:ext uri="{BB962C8B-B14F-4D97-AF65-F5344CB8AC3E}">
        <p14:creationId xmlns:p14="http://schemas.microsoft.com/office/powerpoint/2010/main" val="220727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load 3 × 104 ultracold atoms into a deep optical lattice very close to the ground state of a Mott insulator with one atom per site (End Matter). This realizes an almost perfect crystal of single atoms, each experiencing strong harmonic confinement</a:t>
            </a:r>
          </a:p>
          <a:p>
            <a:endParaRPr lang="en-US" dirty="0"/>
          </a:p>
          <a:p>
            <a:r>
              <a:rPr lang="en-US" dirty="0"/>
              <a:t>The atoms are illuminated with probe light far from Bragg angles, and the light is collected at a right angle with respect to the probe beam. We operate in the limit of Rayleigh scattering by using a cycling transition and sufficiently far detuning to ensure low optical densities. This avoids optical pumping to other states and multiple scattering events.</a:t>
            </a:r>
          </a:p>
          <a:p>
            <a:endParaRPr lang="en-US" dirty="0"/>
          </a:p>
          <a:p>
            <a:r>
              <a:rPr lang="en-US" dirty="0"/>
              <a:t>We generalize the classic double-slit experiment from 2 to 30,000 slits. Furthermore, it has many advantages over other types of spectroscopy:</a:t>
            </a:r>
          </a:p>
          <a:p>
            <a:endParaRPr lang="en-US" dirty="0"/>
          </a:p>
          <a:p>
            <a:r>
              <a:rPr lang="en-US" dirty="0"/>
              <a:t>The large number of scatterers greatly increases the signal-to-noise ratio. Furthermore, by looking far from the Bragg angle, our detection does not need the angular resolution ∼1=N1=3 required to resolve the Bragg peak. Additionally, loading into the lattice prepares the atoms are in Heisenberg uncertainty-limited wave packets with </a:t>
            </a:r>
            <a:r>
              <a:rPr lang="en-US" dirty="0" err="1"/>
              <a:t>ΔxΔpx</a:t>
            </a:r>
            <a:r>
              <a:rPr lang="en-US" dirty="0"/>
              <a:t> = ℏ=2.</a:t>
            </a:r>
          </a:p>
          <a:p>
            <a:endParaRPr lang="en-US" dirty="0"/>
          </a:p>
          <a:p>
            <a:r>
              <a:rPr lang="en-US" dirty="0"/>
              <a:t>For two atoms, </a:t>
            </a:r>
            <a:r>
              <a:rPr lang="en-US" dirty="0" err="1"/>
              <a:t>SðQÞ</a:t>
            </a:r>
            <a:r>
              <a:rPr lang="en-US" dirty="0"/>
              <a:t> is the double-slit pattern. A perfect crystal of infinite size has SðQÞ¼ 0 unless the angle of the incoming laser beam satisfies a Bragg condition [for which SðQÞ¼ N]</a:t>
            </a:r>
          </a:p>
        </p:txBody>
      </p:sp>
      <p:sp>
        <p:nvSpPr>
          <p:cNvPr id="4" name="Slide Number Placeholder 3"/>
          <p:cNvSpPr>
            <a:spLocks noGrp="1"/>
          </p:cNvSpPr>
          <p:nvPr>
            <p:ph type="sldNum" sz="quarter" idx="5"/>
          </p:nvPr>
        </p:nvSpPr>
        <p:spPr/>
        <p:txBody>
          <a:bodyPr/>
          <a:lstStyle/>
          <a:p>
            <a:fld id="{D44F5336-ED42-4855-9ABF-C7A87AACE470}" type="slidenum">
              <a:rPr lang="en-US" smtClean="0"/>
              <a:t>6</a:t>
            </a:fld>
            <a:endParaRPr lang="en-US"/>
          </a:p>
        </p:txBody>
      </p:sp>
    </p:spTree>
    <p:extLst>
      <p:ext uri="{BB962C8B-B14F-4D97-AF65-F5344CB8AC3E}">
        <p14:creationId xmlns:p14="http://schemas.microsoft.com/office/powerpoint/2010/main" val="2553584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5875D-7C4F-DEE1-5A33-1C45F50E77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39C1D-6880-54AB-7EC4-0B3587B231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969FF0-875B-C0BA-437B-2CF237A5C6B8}"/>
              </a:ext>
            </a:extLst>
          </p:cNvPr>
          <p:cNvSpPr>
            <a:spLocks noGrp="1"/>
          </p:cNvSpPr>
          <p:nvPr>
            <p:ph type="body" idx="1"/>
          </p:nvPr>
        </p:nvSpPr>
        <p:spPr/>
        <p:txBody>
          <a:bodyPr/>
          <a:lstStyle/>
          <a:p>
            <a:r>
              <a:rPr lang="en-US" dirty="0"/>
              <a:t>In the harmonic oscillator picture, where there is a trap, the Debye-Waller Factor can be described as the probability for the atom to remain in the same motional state. If the atom changes state, then the photon must have a different frequency, and emitted on a sideband. This is an inelastic process.</a:t>
            </a:r>
          </a:p>
          <a:p>
            <a:endParaRPr lang="en-US" dirty="0"/>
          </a:p>
          <a:p>
            <a:r>
              <a:rPr lang="en-US" dirty="0"/>
              <a:t>In the free space picture, there are no harmonic oscillator states to ‘record’ which way information. Furthermore, strictly speaking, all light scattering in free space is inelastic due to the recoil shift. However, we can use coherent states and note that the recoil momentum of the photon is imparted to the atom. However, there is still finite overlap between the initial (gray) and final (red) states. In the limit of small excitation probability, these two quantities are identical and describe the amount of which-way information has been generated.</a:t>
            </a:r>
          </a:p>
          <a:p>
            <a:endParaRPr lang="en-US" dirty="0"/>
          </a:p>
          <a:p>
            <a:r>
              <a:rPr lang="en-US" dirty="0"/>
              <a:t>We see this experimentally in the data. The two dashed lines indicate when the lattice is fully ON and fully OFF, respectively (there is some finite turn-off time). The amount of inelastically scattered light is equal. This arises from the partial entanglement between the light and atomic motion. As there is longer time of flight, the wavefunctions expand, leading to more separation between the initial and final states after the photon recoil, as can be seen in the cartoon.</a:t>
            </a:r>
          </a:p>
          <a:p>
            <a:endParaRPr lang="en-US" dirty="0"/>
          </a:p>
          <a:p>
            <a:r>
              <a:rPr lang="en-US" dirty="0"/>
              <a:t>This shows that recoilless scattering in a crystal (Mössbauer effect), the different frequency of sidebands, and the excitation of an excited harmonic oscillator state are not essential to the question which fraction of light scattering is coherent or incoherent. What matters is only the partial entanglement between light and atoms. </a:t>
            </a:r>
          </a:p>
          <a:p>
            <a:endParaRPr lang="en-US" dirty="0"/>
          </a:p>
          <a:p>
            <a:r>
              <a:rPr lang="en-US" dirty="0"/>
              <a:t>Therefore, recoilless scattering in a crystal (Mössbauer effect), the different frequency of sidebands, and the excitation of an excited harmonic oscillator state are not essential to the question which fraction of light scattering is coherent or incoherent. What matters is only the partial entanglement between light and atoms.</a:t>
            </a:r>
          </a:p>
          <a:p>
            <a:endParaRPr lang="en-US" dirty="0"/>
          </a:p>
          <a:p>
            <a:r>
              <a:rPr lang="en-US" dirty="0"/>
              <a:t>A classical distribution of antennas identical to the density of the atomic wave packet would scatter light only coherently with no random phase. The amount of coherently scattered light is the same as in the quantum treatment. To introduce incoherence classically, we assume that for every scattering event, the atoms are point particles with a position randomly chosen with probabilities consistent with the density of the wave packet. This model agrees with the quantum description also for the incoherent light scattering (see End Matter) [23]. However, it is wrong to assume that light scattering localizes the atom to a point source: the reason for incoherent light scattering is partial entanglement. In both pictures, incoherence comes from the spatial delocalization: in the classical picture it gives rise to a random phase, while in the quantum picture it results in entanglement and subsequently a Fock state with undetermined phase.</a:t>
            </a:r>
          </a:p>
        </p:txBody>
      </p:sp>
      <p:sp>
        <p:nvSpPr>
          <p:cNvPr id="4" name="Slide Number Placeholder 3">
            <a:extLst>
              <a:ext uri="{FF2B5EF4-FFF2-40B4-BE49-F238E27FC236}">
                <a16:creationId xmlns:a16="http://schemas.microsoft.com/office/drawing/2014/main" id="{8FE3A063-5AEE-E859-F2E0-F28857FAE39F}"/>
              </a:ext>
            </a:extLst>
          </p:cNvPr>
          <p:cNvSpPr>
            <a:spLocks noGrp="1"/>
          </p:cNvSpPr>
          <p:nvPr>
            <p:ph type="sldNum" sz="quarter" idx="5"/>
          </p:nvPr>
        </p:nvSpPr>
        <p:spPr/>
        <p:txBody>
          <a:bodyPr/>
          <a:lstStyle/>
          <a:p>
            <a:fld id="{D44F5336-ED42-4855-9ABF-C7A87AACE470}" type="slidenum">
              <a:rPr lang="en-US" smtClean="0"/>
              <a:t>7</a:t>
            </a:fld>
            <a:endParaRPr lang="en-US"/>
          </a:p>
        </p:txBody>
      </p:sp>
    </p:spTree>
    <p:extLst>
      <p:ext uri="{BB962C8B-B14F-4D97-AF65-F5344CB8AC3E}">
        <p14:creationId xmlns:p14="http://schemas.microsoft.com/office/powerpoint/2010/main" val="3884701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Simplest two-body state, where intermolecular bond is replaced by an external potential</a:t>
            </a:r>
          </a:p>
          <a:p>
            <a:endParaRPr lang="en-US" dirty="0"/>
          </a:p>
        </p:txBody>
      </p:sp>
      <p:sp>
        <p:nvSpPr>
          <p:cNvPr id="4" name="Slide Number Placeholder 3"/>
          <p:cNvSpPr>
            <a:spLocks noGrp="1"/>
          </p:cNvSpPr>
          <p:nvPr>
            <p:ph type="sldNum" sz="quarter" idx="5"/>
          </p:nvPr>
        </p:nvSpPr>
        <p:spPr/>
        <p:txBody>
          <a:bodyPr/>
          <a:lstStyle/>
          <a:p>
            <a:fld id="{D44F5336-ED42-4855-9ABF-C7A87AACE470}" type="slidenum">
              <a:rPr lang="en-US" smtClean="0"/>
              <a:t>8</a:t>
            </a:fld>
            <a:endParaRPr lang="en-US"/>
          </a:p>
        </p:txBody>
      </p:sp>
    </p:spTree>
    <p:extLst>
      <p:ext uri="{BB962C8B-B14F-4D97-AF65-F5344CB8AC3E}">
        <p14:creationId xmlns:p14="http://schemas.microsoft.com/office/powerpoint/2010/main" val="952846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4F5336-ED42-4855-9ABF-C7A87AACE470}" type="slidenum">
              <a:rPr lang="en-US" smtClean="0"/>
              <a:t>9</a:t>
            </a:fld>
            <a:endParaRPr lang="en-US"/>
          </a:p>
        </p:txBody>
      </p:sp>
    </p:spTree>
    <p:extLst>
      <p:ext uri="{BB962C8B-B14F-4D97-AF65-F5344CB8AC3E}">
        <p14:creationId xmlns:p14="http://schemas.microsoft.com/office/powerpoint/2010/main" val="735021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dirty="0"/>
              <a:t>two lines cross at the Condon </a:t>
            </a:r>
            <a:r>
              <a:rPr lang="en-US" err="1"/>
              <a:t>point</a:t>
            </a:r>
            <a:r>
              <a:rPr lang="en-US"/>
              <a:t>, where </a:t>
            </a:r>
            <a:r>
              <a:rPr lang="en-US" dirty="0"/>
              <a:t>the dipolar interaction is equal to the detuning</a:t>
            </a:r>
          </a:p>
          <a:p>
            <a:endParaRPr lang="en-US" dirty="0"/>
          </a:p>
          <a:p>
            <a:r>
              <a:rPr lang="en-US" dirty="0"/>
              <a:t>Until now, we have considered the weak excitation limit. When the optical transition is saturated, multiphoton scattering events emerge, leading to the </a:t>
            </a:r>
            <a:r>
              <a:rPr lang="en-US" dirty="0" err="1"/>
              <a:t>Mollow</a:t>
            </a:r>
            <a:r>
              <a:rPr lang="en-US" dirty="0"/>
              <a:t> triplet. The sidebands correspond to transitions between the different dressed states and are therefore also inelastic, whereas the carrier is mostly elastic (unless strongly saturated). According to Ref. [50], the inelastic fraction of the scattered light is s/(1 + s) where s = 2(Ω/Γ)2/(1 + 4∆2/Γ 2 ) is the saturation parameter</a:t>
            </a:r>
          </a:p>
        </p:txBody>
      </p:sp>
      <p:sp>
        <p:nvSpPr>
          <p:cNvPr id="4" name="Slide Number Placeholder 3"/>
          <p:cNvSpPr>
            <a:spLocks noGrp="1"/>
          </p:cNvSpPr>
          <p:nvPr>
            <p:ph type="sldNum" sz="quarter" idx="5"/>
          </p:nvPr>
        </p:nvSpPr>
        <p:spPr/>
        <p:txBody>
          <a:bodyPr/>
          <a:lstStyle/>
          <a:p>
            <a:fld id="{D44F5336-ED42-4855-9ABF-C7A87AACE470}" type="slidenum">
              <a:rPr lang="en-US" smtClean="0"/>
              <a:t>11</a:t>
            </a:fld>
            <a:endParaRPr lang="en-US"/>
          </a:p>
        </p:txBody>
      </p:sp>
    </p:spTree>
    <p:extLst>
      <p:ext uri="{BB962C8B-B14F-4D97-AF65-F5344CB8AC3E}">
        <p14:creationId xmlns:p14="http://schemas.microsoft.com/office/powerpoint/2010/main" val="855900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4F5336-ED42-4855-9ABF-C7A87AACE470}" type="slidenum">
              <a:rPr lang="en-US" smtClean="0"/>
              <a:t>17</a:t>
            </a:fld>
            <a:endParaRPr lang="en-US"/>
          </a:p>
        </p:txBody>
      </p:sp>
    </p:spTree>
    <p:extLst>
      <p:ext uri="{BB962C8B-B14F-4D97-AF65-F5344CB8AC3E}">
        <p14:creationId xmlns:p14="http://schemas.microsoft.com/office/powerpoint/2010/main" val="117525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9E1BF-BBCB-B8B8-D0D6-F358994A94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95BC17-1BA4-069F-F2F7-4BC2F2DFD1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DC561E-2586-D337-479B-223F5688B453}"/>
              </a:ext>
            </a:extLst>
          </p:cNvPr>
          <p:cNvSpPr>
            <a:spLocks noGrp="1"/>
          </p:cNvSpPr>
          <p:nvPr>
            <p:ph type="dt" sz="half" idx="10"/>
          </p:nvPr>
        </p:nvSpPr>
        <p:spPr/>
        <p:txBody>
          <a:bodyPr/>
          <a:lstStyle/>
          <a:p>
            <a:fld id="{BDF7CCD7-F87F-4E75-90FF-B8D20FD02CB8}" type="datetime1">
              <a:rPr lang="en-US" smtClean="0"/>
              <a:t>5/28/2026</a:t>
            </a:fld>
            <a:endParaRPr lang="en-US"/>
          </a:p>
        </p:txBody>
      </p:sp>
      <p:sp>
        <p:nvSpPr>
          <p:cNvPr id="5" name="Footer Placeholder 4">
            <a:extLst>
              <a:ext uri="{FF2B5EF4-FFF2-40B4-BE49-F238E27FC236}">
                <a16:creationId xmlns:a16="http://schemas.microsoft.com/office/drawing/2014/main" id="{D06B3F94-9180-B394-9FF7-97AD652464A3}"/>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B073E788-36D7-E1E1-DDA0-BECD630BF49F}"/>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1077220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50BD1-CADE-7C00-7D04-AFBCFEA811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6C5C98-404D-04A0-04B6-1FCCEC3C1E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941E07-C2E4-1040-649A-105C186BD490}"/>
              </a:ext>
            </a:extLst>
          </p:cNvPr>
          <p:cNvSpPr>
            <a:spLocks noGrp="1"/>
          </p:cNvSpPr>
          <p:nvPr>
            <p:ph type="dt" sz="half" idx="10"/>
          </p:nvPr>
        </p:nvSpPr>
        <p:spPr/>
        <p:txBody>
          <a:bodyPr/>
          <a:lstStyle/>
          <a:p>
            <a:fld id="{85EDDD84-7411-4657-9048-E904991F6E19}" type="datetime1">
              <a:rPr lang="en-US" smtClean="0"/>
              <a:t>5/28/2026</a:t>
            </a:fld>
            <a:endParaRPr lang="en-US"/>
          </a:p>
        </p:txBody>
      </p:sp>
      <p:sp>
        <p:nvSpPr>
          <p:cNvPr id="5" name="Footer Placeholder 4">
            <a:extLst>
              <a:ext uri="{FF2B5EF4-FFF2-40B4-BE49-F238E27FC236}">
                <a16:creationId xmlns:a16="http://schemas.microsoft.com/office/drawing/2014/main" id="{B606966F-0B14-80FB-5F9E-5124AE4FC31E}"/>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3306909A-2DCA-9A4B-7FC3-3449177DA040}"/>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3905994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E6456-0382-5267-4F05-34A13C9D40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DD25B0-1D9C-8CB9-B25E-9C99D742A5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B9E203-A855-8182-471D-2C76660EE9BC}"/>
              </a:ext>
            </a:extLst>
          </p:cNvPr>
          <p:cNvSpPr>
            <a:spLocks noGrp="1"/>
          </p:cNvSpPr>
          <p:nvPr>
            <p:ph type="dt" sz="half" idx="10"/>
          </p:nvPr>
        </p:nvSpPr>
        <p:spPr/>
        <p:txBody>
          <a:bodyPr/>
          <a:lstStyle/>
          <a:p>
            <a:fld id="{E5FCE8E2-BE18-4D35-B449-8D3629EE1B53}" type="datetime1">
              <a:rPr lang="en-US" smtClean="0"/>
              <a:t>5/28/2026</a:t>
            </a:fld>
            <a:endParaRPr lang="en-US"/>
          </a:p>
        </p:txBody>
      </p:sp>
      <p:sp>
        <p:nvSpPr>
          <p:cNvPr id="5" name="Footer Placeholder 4">
            <a:extLst>
              <a:ext uri="{FF2B5EF4-FFF2-40B4-BE49-F238E27FC236}">
                <a16:creationId xmlns:a16="http://schemas.microsoft.com/office/drawing/2014/main" id="{B262991E-F270-5B36-1B60-C7D449C9492F}"/>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6D1F8D96-19D5-77A2-FCA0-3D1390AE4776}"/>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1292922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0C29-C6D3-98A1-9CE3-E5A18AF39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3D46AA-96F4-6C94-6B6A-2BE6A16980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1D00CF-8283-4797-8AEC-5A85D104A2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A4E4B9-D8D4-77AA-9B1A-CAB79640B83C}"/>
              </a:ext>
            </a:extLst>
          </p:cNvPr>
          <p:cNvSpPr>
            <a:spLocks noGrp="1"/>
          </p:cNvSpPr>
          <p:nvPr>
            <p:ph type="dt" sz="half" idx="10"/>
          </p:nvPr>
        </p:nvSpPr>
        <p:spPr/>
        <p:txBody>
          <a:bodyPr/>
          <a:lstStyle/>
          <a:p>
            <a:fld id="{274B355D-26AC-4F4B-A64F-4DF06EE4D83C}" type="datetime1">
              <a:rPr lang="en-US" smtClean="0"/>
              <a:t>5/28/2026</a:t>
            </a:fld>
            <a:endParaRPr lang="en-US"/>
          </a:p>
        </p:txBody>
      </p:sp>
      <p:sp>
        <p:nvSpPr>
          <p:cNvPr id="6" name="Footer Placeholder 5">
            <a:extLst>
              <a:ext uri="{FF2B5EF4-FFF2-40B4-BE49-F238E27FC236}">
                <a16:creationId xmlns:a16="http://schemas.microsoft.com/office/drawing/2014/main" id="{F31C70C5-D707-C381-4B3C-C4BEA573F92D}"/>
              </a:ext>
            </a:extLst>
          </p:cNvPr>
          <p:cNvSpPr>
            <a:spLocks noGrp="1"/>
          </p:cNvSpPr>
          <p:nvPr>
            <p:ph type="ftr" sz="quarter" idx="11"/>
          </p:nvPr>
        </p:nvSpPr>
        <p:spPr/>
        <p:txBody>
          <a:bodyPr/>
          <a:lstStyle/>
          <a:p>
            <a:r>
              <a:rPr lang="en-US"/>
              <a:t>Light Scattering from Closely-Spaced Atom Pairs</a:t>
            </a:r>
          </a:p>
        </p:txBody>
      </p:sp>
      <p:sp>
        <p:nvSpPr>
          <p:cNvPr id="7" name="Slide Number Placeholder 6">
            <a:extLst>
              <a:ext uri="{FF2B5EF4-FFF2-40B4-BE49-F238E27FC236}">
                <a16:creationId xmlns:a16="http://schemas.microsoft.com/office/drawing/2014/main" id="{F5DF1227-0BED-62EA-9077-0009CA2657EE}"/>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1741269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76881-2513-9EA2-BCE6-4BF161F04C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259CC3-3C73-611D-D070-F8D74A639E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3A6A16-EDDC-D177-15B6-81F56A2E8D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CA4094-C675-6A62-0F3E-DD582CE9F1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3DABE3-8037-CCE8-3FD2-583C90C71C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A4C9C2-2076-B4C8-C477-A7110EDF894C}"/>
              </a:ext>
            </a:extLst>
          </p:cNvPr>
          <p:cNvSpPr>
            <a:spLocks noGrp="1"/>
          </p:cNvSpPr>
          <p:nvPr>
            <p:ph type="dt" sz="half" idx="10"/>
          </p:nvPr>
        </p:nvSpPr>
        <p:spPr/>
        <p:txBody>
          <a:bodyPr/>
          <a:lstStyle/>
          <a:p>
            <a:fld id="{144A6021-E633-48F5-AB73-B00896EFA6D8}" type="datetime1">
              <a:rPr lang="en-US" smtClean="0"/>
              <a:t>5/28/2026</a:t>
            </a:fld>
            <a:endParaRPr lang="en-US"/>
          </a:p>
        </p:txBody>
      </p:sp>
      <p:sp>
        <p:nvSpPr>
          <p:cNvPr id="8" name="Footer Placeholder 7">
            <a:extLst>
              <a:ext uri="{FF2B5EF4-FFF2-40B4-BE49-F238E27FC236}">
                <a16:creationId xmlns:a16="http://schemas.microsoft.com/office/drawing/2014/main" id="{AC5A0592-56E1-F036-56E1-8065E14E13E8}"/>
              </a:ext>
            </a:extLst>
          </p:cNvPr>
          <p:cNvSpPr>
            <a:spLocks noGrp="1"/>
          </p:cNvSpPr>
          <p:nvPr>
            <p:ph type="ftr" sz="quarter" idx="11"/>
          </p:nvPr>
        </p:nvSpPr>
        <p:spPr/>
        <p:txBody>
          <a:bodyPr/>
          <a:lstStyle/>
          <a:p>
            <a:r>
              <a:rPr lang="en-US"/>
              <a:t>Light Scattering from Closely-Spaced Atom Pairs</a:t>
            </a:r>
          </a:p>
        </p:txBody>
      </p:sp>
      <p:sp>
        <p:nvSpPr>
          <p:cNvPr id="9" name="Slide Number Placeholder 8">
            <a:extLst>
              <a:ext uri="{FF2B5EF4-FFF2-40B4-BE49-F238E27FC236}">
                <a16:creationId xmlns:a16="http://schemas.microsoft.com/office/drawing/2014/main" id="{B4DF0026-6505-0681-60DF-FD6552D8BB15}"/>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3830090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5ACF6-50D1-D1A0-EA77-FF6B852232F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EB6F4E-9ED2-2870-0015-781AC06A95E5}"/>
              </a:ext>
            </a:extLst>
          </p:cNvPr>
          <p:cNvSpPr>
            <a:spLocks noGrp="1"/>
          </p:cNvSpPr>
          <p:nvPr>
            <p:ph type="dt" sz="half" idx="10"/>
          </p:nvPr>
        </p:nvSpPr>
        <p:spPr/>
        <p:txBody>
          <a:bodyPr/>
          <a:lstStyle/>
          <a:p>
            <a:fld id="{C94D234A-3FB5-4107-ABB1-9004438D7448}" type="datetime1">
              <a:rPr lang="en-US" smtClean="0"/>
              <a:t>5/28/2026</a:t>
            </a:fld>
            <a:endParaRPr lang="en-US"/>
          </a:p>
        </p:txBody>
      </p:sp>
      <p:sp>
        <p:nvSpPr>
          <p:cNvPr id="4" name="Footer Placeholder 3">
            <a:extLst>
              <a:ext uri="{FF2B5EF4-FFF2-40B4-BE49-F238E27FC236}">
                <a16:creationId xmlns:a16="http://schemas.microsoft.com/office/drawing/2014/main" id="{5A2C3897-008B-EF68-DA61-252C2DDF0C94}"/>
              </a:ext>
            </a:extLst>
          </p:cNvPr>
          <p:cNvSpPr>
            <a:spLocks noGrp="1"/>
          </p:cNvSpPr>
          <p:nvPr>
            <p:ph type="ftr" sz="quarter" idx="11"/>
          </p:nvPr>
        </p:nvSpPr>
        <p:spPr/>
        <p:txBody>
          <a:bodyPr/>
          <a:lstStyle/>
          <a:p>
            <a:r>
              <a:rPr lang="en-US"/>
              <a:t>Light Scattering from Closely-Spaced Atom Pairs</a:t>
            </a:r>
          </a:p>
        </p:txBody>
      </p:sp>
      <p:sp>
        <p:nvSpPr>
          <p:cNvPr id="5" name="Slide Number Placeholder 4">
            <a:extLst>
              <a:ext uri="{FF2B5EF4-FFF2-40B4-BE49-F238E27FC236}">
                <a16:creationId xmlns:a16="http://schemas.microsoft.com/office/drawing/2014/main" id="{8E984018-BBB9-E2A5-C869-7909CA262ECF}"/>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3612203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79C070-45F8-3E8C-1E2B-BF55E6864391}"/>
              </a:ext>
            </a:extLst>
          </p:cNvPr>
          <p:cNvSpPr>
            <a:spLocks noGrp="1"/>
          </p:cNvSpPr>
          <p:nvPr>
            <p:ph type="dt" sz="half" idx="10"/>
          </p:nvPr>
        </p:nvSpPr>
        <p:spPr/>
        <p:txBody>
          <a:bodyPr/>
          <a:lstStyle/>
          <a:p>
            <a:fld id="{C07DA536-CE13-418B-9126-A9E7F14B7255}" type="datetime1">
              <a:rPr lang="en-US" smtClean="0"/>
              <a:t>5/28/2026</a:t>
            </a:fld>
            <a:endParaRPr lang="en-US"/>
          </a:p>
        </p:txBody>
      </p:sp>
      <p:sp>
        <p:nvSpPr>
          <p:cNvPr id="3" name="Footer Placeholder 2">
            <a:extLst>
              <a:ext uri="{FF2B5EF4-FFF2-40B4-BE49-F238E27FC236}">
                <a16:creationId xmlns:a16="http://schemas.microsoft.com/office/drawing/2014/main" id="{F2A72B97-2DDC-69AF-9A81-61D0EC3F5FD4}"/>
              </a:ext>
            </a:extLst>
          </p:cNvPr>
          <p:cNvSpPr>
            <a:spLocks noGrp="1"/>
          </p:cNvSpPr>
          <p:nvPr>
            <p:ph type="ftr" sz="quarter" idx="11"/>
          </p:nvPr>
        </p:nvSpPr>
        <p:spPr/>
        <p:txBody>
          <a:bodyPr/>
          <a:lstStyle/>
          <a:p>
            <a:r>
              <a:rPr lang="en-US"/>
              <a:t>Light Scattering from Closely-Spaced Atom Pairs</a:t>
            </a:r>
          </a:p>
        </p:txBody>
      </p:sp>
      <p:sp>
        <p:nvSpPr>
          <p:cNvPr id="4" name="Slide Number Placeholder 3">
            <a:extLst>
              <a:ext uri="{FF2B5EF4-FFF2-40B4-BE49-F238E27FC236}">
                <a16:creationId xmlns:a16="http://schemas.microsoft.com/office/drawing/2014/main" id="{C51BA88C-841F-2C00-9F9B-23F9BE5E1324}"/>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3689566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DA790-A5EA-E624-9938-CB807B9D95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F86193-16C2-81E7-B895-84D5DAEC27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8F6AE3-15C7-C10C-8574-BECA59130A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72DA6A-63EC-0A85-7BC3-A856FAC7010E}"/>
              </a:ext>
            </a:extLst>
          </p:cNvPr>
          <p:cNvSpPr>
            <a:spLocks noGrp="1"/>
          </p:cNvSpPr>
          <p:nvPr>
            <p:ph type="dt" sz="half" idx="10"/>
          </p:nvPr>
        </p:nvSpPr>
        <p:spPr/>
        <p:txBody>
          <a:bodyPr/>
          <a:lstStyle/>
          <a:p>
            <a:fld id="{522260B8-D583-4767-BC6F-DD3F56127664}" type="datetime1">
              <a:rPr lang="en-US" smtClean="0"/>
              <a:t>5/28/2026</a:t>
            </a:fld>
            <a:endParaRPr lang="en-US"/>
          </a:p>
        </p:txBody>
      </p:sp>
      <p:sp>
        <p:nvSpPr>
          <p:cNvPr id="6" name="Footer Placeholder 5">
            <a:extLst>
              <a:ext uri="{FF2B5EF4-FFF2-40B4-BE49-F238E27FC236}">
                <a16:creationId xmlns:a16="http://schemas.microsoft.com/office/drawing/2014/main" id="{D4C86D9A-A0A8-F9E6-B884-5B66093569D2}"/>
              </a:ext>
            </a:extLst>
          </p:cNvPr>
          <p:cNvSpPr>
            <a:spLocks noGrp="1"/>
          </p:cNvSpPr>
          <p:nvPr>
            <p:ph type="ftr" sz="quarter" idx="11"/>
          </p:nvPr>
        </p:nvSpPr>
        <p:spPr/>
        <p:txBody>
          <a:bodyPr/>
          <a:lstStyle/>
          <a:p>
            <a:r>
              <a:rPr lang="en-US"/>
              <a:t>Light Scattering from Closely-Spaced Atom Pairs</a:t>
            </a:r>
          </a:p>
        </p:txBody>
      </p:sp>
      <p:sp>
        <p:nvSpPr>
          <p:cNvPr id="7" name="Slide Number Placeholder 6">
            <a:extLst>
              <a:ext uri="{FF2B5EF4-FFF2-40B4-BE49-F238E27FC236}">
                <a16:creationId xmlns:a16="http://schemas.microsoft.com/office/drawing/2014/main" id="{AFB2550A-461A-CB3D-81D5-1DA500FFB44D}"/>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2202971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EEC9F-E0F6-DFB0-8418-7212833359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F7E69B-8F64-2CE3-15EB-436157532D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AB0904-6BDD-A1E8-BB9E-747AD03407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C3F892-D475-7531-ABC9-831CAD542D57}"/>
              </a:ext>
            </a:extLst>
          </p:cNvPr>
          <p:cNvSpPr>
            <a:spLocks noGrp="1"/>
          </p:cNvSpPr>
          <p:nvPr>
            <p:ph type="dt" sz="half" idx="10"/>
          </p:nvPr>
        </p:nvSpPr>
        <p:spPr/>
        <p:txBody>
          <a:bodyPr/>
          <a:lstStyle/>
          <a:p>
            <a:fld id="{AD9DAC74-4530-4405-BC55-95C68271A4CE}" type="datetime1">
              <a:rPr lang="en-US" smtClean="0"/>
              <a:t>5/28/2026</a:t>
            </a:fld>
            <a:endParaRPr lang="en-US"/>
          </a:p>
        </p:txBody>
      </p:sp>
      <p:sp>
        <p:nvSpPr>
          <p:cNvPr id="6" name="Footer Placeholder 5">
            <a:extLst>
              <a:ext uri="{FF2B5EF4-FFF2-40B4-BE49-F238E27FC236}">
                <a16:creationId xmlns:a16="http://schemas.microsoft.com/office/drawing/2014/main" id="{9E7F5543-65C6-20AD-9F4B-A72CC41C83D0}"/>
              </a:ext>
            </a:extLst>
          </p:cNvPr>
          <p:cNvSpPr>
            <a:spLocks noGrp="1"/>
          </p:cNvSpPr>
          <p:nvPr>
            <p:ph type="ftr" sz="quarter" idx="11"/>
          </p:nvPr>
        </p:nvSpPr>
        <p:spPr/>
        <p:txBody>
          <a:bodyPr/>
          <a:lstStyle/>
          <a:p>
            <a:r>
              <a:rPr lang="en-US"/>
              <a:t>Light Scattering from Closely-Spaced Atom Pairs</a:t>
            </a:r>
          </a:p>
        </p:txBody>
      </p:sp>
      <p:sp>
        <p:nvSpPr>
          <p:cNvPr id="7" name="Slide Number Placeholder 6">
            <a:extLst>
              <a:ext uri="{FF2B5EF4-FFF2-40B4-BE49-F238E27FC236}">
                <a16:creationId xmlns:a16="http://schemas.microsoft.com/office/drawing/2014/main" id="{3F6E761A-DFD2-AB99-3E77-D033BB99377B}"/>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68993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01306-99DA-358E-15B0-35E0C8213F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E28C62-2D9E-7B7F-B9FC-C4A681AD6E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956605-16D8-1CFD-4DA4-96048E08714B}"/>
              </a:ext>
            </a:extLst>
          </p:cNvPr>
          <p:cNvSpPr>
            <a:spLocks noGrp="1"/>
          </p:cNvSpPr>
          <p:nvPr>
            <p:ph type="dt" sz="half" idx="10"/>
          </p:nvPr>
        </p:nvSpPr>
        <p:spPr/>
        <p:txBody>
          <a:bodyPr/>
          <a:lstStyle/>
          <a:p>
            <a:fld id="{7638B96B-B592-4796-8AFE-FCEE52462285}" type="datetime1">
              <a:rPr lang="en-US" smtClean="0"/>
              <a:t>5/28/2026</a:t>
            </a:fld>
            <a:endParaRPr lang="en-US"/>
          </a:p>
        </p:txBody>
      </p:sp>
      <p:sp>
        <p:nvSpPr>
          <p:cNvPr id="5" name="Footer Placeholder 4">
            <a:extLst>
              <a:ext uri="{FF2B5EF4-FFF2-40B4-BE49-F238E27FC236}">
                <a16:creationId xmlns:a16="http://schemas.microsoft.com/office/drawing/2014/main" id="{CB64661B-2AFB-58CC-60EF-7E8C0B36DCDD}"/>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9EE83934-86EC-1C5A-F8A6-19E3A71A2604}"/>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2130184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AB03B7-F3BD-946C-70AB-76935F5BD1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909B49-9B62-F418-FE49-694A318B54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C391F4-88FE-C2A3-B6FF-7811BB9C6F87}"/>
              </a:ext>
            </a:extLst>
          </p:cNvPr>
          <p:cNvSpPr>
            <a:spLocks noGrp="1"/>
          </p:cNvSpPr>
          <p:nvPr>
            <p:ph type="dt" sz="half" idx="10"/>
          </p:nvPr>
        </p:nvSpPr>
        <p:spPr/>
        <p:txBody>
          <a:bodyPr/>
          <a:lstStyle/>
          <a:p>
            <a:fld id="{1623B322-7255-48EB-A4F7-BBCEFE4D16D6}" type="datetime1">
              <a:rPr lang="en-US" smtClean="0"/>
              <a:t>5/28/2026</a:t>
            </a:fld>
            <a:endParaRPr lang="en-US"/>
          </a:p>
        </p:txBody>
      </p:sp>
      <p:sp>
        <p:nvSpPr>
          <p:cNvPr id="5" name="Footer Placeholder 4">
            <a:extLst>
              <a:ext uri="{FF2B5EF4-FFF2-40B4-BE49-F238E27FC236}">
                <a16:creationId xmlns:a16="http://schemas.microsoft.com/office/drawing/2014/main" id="{C9A07DBF-589E-C061-07CB-AF1F13819278}"/>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96F9CCC1-0D94-DFDE-E26A-E1ADF6517D3B}"/>
              </a:ext>
            </a:extLst>
          </p:cNvPr>
          <p:cNvSpPr>
            <a:spLocks noGrp="1"/>
          </p:cNvSpPr>
          <p:nvPr>
            <p:ph type="sldNum" sz="quarter" idx="12"/>
          </p:nvPr>
        </p:nvSpPr>
        <p:spPr/>
        <p:txBody>
          <a:bodyPr/>
          <a:lstStyle/>
          <a:p>
            <a:fld id="{A18CFF8F-6617-428E-9314-96DE529C98C8}" type="slidenum">
              <a:rPr lang="en-US" smtClean="0"/>
              <a:t>‹#›</a:t>
            </a:fld>
            <a:endParaRPr lang="en-US"/>
          </a:p>
        </p:txBody>
      </p:sp>
    </p:spTree>
    <p:extLst>
      <p:ext uri="{BB962C8B-B14F-4D97-AF65-F5344CB8AC3E}">
        <p14:creationId xmlns:p14="http://schemas.microsoft.com/office/powerpoint/2010/main" val="3079675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09A32F-9919-ADA2-DE8C-3C851FF00B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494A77-35D2-BCB1-F7AE-142B0194C8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5341B1-67CB-715F-B08A-34BA06FD92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8C89F7-7D2F-4F6A-BE0F-97040057E9B5}" type="datetime1">
              <a:rPr lang="en-US" smtClean="0"/>
              <a:t>5/28/2026</a:t>
            </a:fld>
            <a:endParaRPr lang="en-US"/>
          </a:p>
        </p:txBody>
      </p:sp>
      <p:sp>
        <p:nvSpPr>
          <p:cNvPr id="5" name="Footer Placeholder 4">
            <a:extLst>
              <a:ext uri="{FF2B5EF4-FFF2-40B4-BE49-F238E27FC236}">
                <a16:creationId xmlns:a16="http://schemas.microsoft.com/office/drawing/2014/main" id="{CE84E206-AA54-6E89-641F-E09342F863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Light Scattering from Closely-Spaced Atom Pairs</a:t>
            </a:r>
          </a:p>
        </p:txBody>
      </p:sp>
      <p:sp>
        <p:nvSpPr>
          <p:cNvPr id="6" name="Slide Number Placeholder 5">
            <a:extLst>
              <a:ext uri="{FF2B5EF4-FFF2-40B4-BE49-F238E27FC236}">
                <a16:creationId xmlns:a16="http://schemas.microsoft.com/office/drawing/2014/main" id="{78DA389A-90F4-B586-801B-80314F7E86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8CFF8F-6617-428E-9314-96DE529C98C8}" type="slidenum">
              <a:rPr lang="en-US" smtClean="0"/>
              <a:t>‹#›</a:t>
            </a:fld>
            <a:endParaRPr lang="en-US"/>
          </a:p>
        </p:txBody>
      </p:sp>
    </p:spTree>
    <p:extLst>
      <p:ext uri="{BB962C8B-B14F-4D97-AF65-F5344CB8AC3E}">
        <p14:creationId xmlns:p14="http://schemas.microsoft.com/office/powerpoint/2010/main" val="7240014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9.jpg"/></Relationships>
</file>

<file path=ppt/slides/_rels/slide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2.jpeg"/><Relationship Id="rId4" Type="http://schemas.openxmlformats.org/officeDocument/2006/relationships/image" Target="../media/image21.jpg"/></Relationships>
</file>

<file path=ppt/slides/_rels/slide1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7D90F-73D9-BFAE-3741-453CDEF5E2C8}"/>
              </a:ext>
            </a:extLst>
          </p:cNvPr>
          <p:cNvSpPr>
            <a:spLocks noGrp="1"/>
          </p:cNvSpPr>
          <p:nvPr>
            <p:ph type="ctrTitle"/>
          </p:nvPr>
        </p:nvSpPr>
        <p:spPr/>
        <p:txBody>
          <a:bodyPr/>
          <a:lstStyle/>
          <a:p>
            <a:r>
              <a:rPr lang="en-US" dirty="0"/>
              <a:t>Light Scattering from </a:t>
            </a:r>
            <a:br>
              <a:rPr lang="en-US" dirty="0"/>
            </a:br>
            <a:r>
              <a:rPr lang="en-US" dirty="0"/>
              <a:t>Closely Spaced Atom Pairs</a:t>
            </a:r>
          </a:p>
        </p:txBody>
      </p:sp>
      <p:sp>
        <p:nvSpPr>
          <p:cNvPr id="3" name="Subtitle 2">
            <a:extLst>
              <a:ext uri="{FF2B5EF4-FFF2-40B4-BE49-F238E27FC236}">
                <a16:creationId xmlns:a16="http://schemas.microsoft.com/office/drawing/2014/main" id="{3220540F-86A1-F912-55FF-7C1FA0FE83F5}"/>
              </a:ext>
            </a:extLst>
          </p:cNvPr>
          <p:cNvSpPr>
            <a:spLocks noGrp="1"/>
          </p:cNvSpPr>
          <p:nvPr>
            <p:ph type="subTitle" idx="1"/>
          </p:nvPr>
        </p:nvSpPr>
        <p:spPr/>
        <p:txBody>
          <a:bodyPr/>
          <a:lstStyle/>
          <a:p>
            <a:r>
              <a:rPr lang="en-US" dirty="0"/>
              <a:t>Yoo Kyung Lee</a:t>
            </a:r>
          </a:p>
          <a:p>
            <a:r>
              <a:rPr lang="en-US" sz="2000" dirty="0">
                <a:solidFill>
                  <a:schemeClr val="bg1">
                    <a:lumMod val="50000"/>
                  </a:schemeClr>
                </a:solidFill>
              </a:rPr>
              <a:t>This work: Massachusetts Institute of Technology</a:t>
            </a:r>
          </a:p>
          <a:p>
            <a:r>
              <a:rPr lang="en-US" sz="2000" dirty="0">
                <a:solidFill>
                  <a:schemeClr val="bg1">
                    <a:lumMod val="50000"/>
                  </a:schemeClr>
                </a:solidFill>
              </a:rPr>
              <a:t>Current affiliation: Harvard University</a:t>
            </a:r>
            <a:endParaRPr lang="en-US" sz="1800" dirty="0">
              <a:solidFill>
                <a:schemeClr val="bg1">
                  <a:lumMod val="50000"/>
                </a:schemeClr>
              </a:solidFill>
            </a:endParaRPr>
          </a:p>
        </p:txBody>
      </p:sp>
      <p:sp>
        <p:nvSpPr>
          <p:cNvPr id="4" name="Date Placeholder 3">
            <a:extLst>
              <a:ext uri="{FF2B5EF4-FFF2-40B4-BE49-F238E27FC236}">
                <a16:creationId xmlns:a16="http://schemas.microsoft.com/office/drawing/2014/main" id="{B03C14DB-0B14-7034-3849-0A9653616A1B}"/>
              </a:ext>
            </a:extLst>
          </p:cNvPr>
          <p:cNvSpPr>
            <a:spLocks noGrp="1"/>
          </p:cNvSpPr>
          <p:nvPr>
            <p:ph type="dt" sz="half" idx="10"/>
          </p:nvPr>
        </p:nvSpPr>
        <p:spPr/>
        <p:txBody>
          <a:bodyPr/>
          <a:lstStyle/>
          <a:p>
            <a:fld id="{E40E7479-5FF1-484E-8D58-1216D223D9E9}" type="datetime1">
              <a:rPr lang="en-US" smtClean="0"/>
              <a:t>5/28/2026</a:t>
            </a:fld>
            <a:endParaRPr lang="en-US"/>
          </a:p>
        </p:txBody>
      </p:sp>
      <p:sp>
        <p:nvSpPr>
          <p:cNvPr id="5" name="Footer Placeholder 4">
            <a:extLst>
              <a:ext uri="{FF2B5EF4-FFF2-40B4-BE49-F238E27FC236}">
                <a16:creationId xmlns:a16="http://schemas.microsoft.com/office/drawing/2014/main" id="{967A5868-F40B-2857-5177-47492A2C18E3}"/>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7836C339-88DE-FC3B-C08D-5D6E4D49D14E}"/>
              </a:ext>
            </a:extLst>
          </p:cNvPr>
          <p:cNvSpPr>
            <a:spLocks noGrp="1"/>
          </p:cNvSpPr>
          <p:nvPr>
            <p:ph type="sldNum" sz="quarter" idx="12"/>
          </p:nvPr>
        </p:nvSpPr>
        <p:spPr/>
        <p:txBody>
          <a:bodyPr/>
          <a:lstStyle/>
          <a:p>
            <a:fld id="{A18CFF8F-6617-428E-9314-96DE529C98C8}" type="slidenum">
              <a:rPr lang="en-US" smtClean="0"/>
              <a:t>1</a:t>
            </a:fld>
            <a:endParaRPr lang="en-US"/>
          </a:p>
        </p:txBody>
      </p:sp>
      <p:pic>
        <p:nvPicPr>
          <p:cNvPr id="8" name="Picture 7">
            <a:extLst>
              <a:ext uri="{FF2B5EF4-FFF2-40B4-BE49-F238E27FC236}">
                <a16:creationId xmlns:a16="http://schemas.microsoft.com/office/drawing/2014/main" id="{0770C56A-8831-EFE4-D611-8C74195834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858142" cy="329608"/>
          </a:xfrm>
          <a:prstGeom prst="rect">
            <a:avLst/>
          </a:prstGeom>
        </p:spPr>
      </p:pic>
      <p:pic>
        <p:nvPicPr>
          <p:cNvPr id="9" name="Picture 8" descr="Massachusetts Institute of Technology Logo, PNG, Symbol ...">
            <a:extLst>
              <a:ext uri="{FF2B5EF4-FFF2-40B4-BE49-F238E27FC236}">
                <a16:creationId xmlns:a16="http://schemas.microsoft.com/office/drawing/2014/main" id="{B02AACEF-AFDF-48B5-C605-C35720A2CCBE}"/>
              </a:ext>
            </a:extLst>
          </p:cNvPr>
          <p:cNvPicPr>
            <a:picLocks noChangeAspect="1"/>
          </p:cNvPicPr>
          <p:nvPr/>
        </p:nvPicPr>
        <p:blipFill>
          <a:blip r:embed="rId3"/>
          <a:stretch>
            <a:fillRect/>
          </a:stretch>
        </p:blipFill>
        <p:spPr>
          <a:xfrm>
            <a:off x="946297" y="-124993"/>
            <a:ext cx="1031359" cy="580140"/>
          </a:xfrm>
          <a:prstGeom prst="rect">
            <a:avLst/>
          </a:prstGeom>
        </p:spPr>
      </p:pic>
    </p:spTree>
    <p:extLst>
      <p:ext uri="{BB962C8B-B14F-4D97-AF65-F5344CB8AC3E}">
        <p14:creationId xmlns:p14="http://schemas.microsoft.com/office/powerpoint/2010/main" val="3950847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52BFADB2-BCA9-B9DD-A575-9933583ABFCC}"/>
              </a:ext>
            </a:extLst>
          </p:cNvPr>
          <p:cNvSpPr txBox="1"/>
          <p:nvPr/>
        </p:nvSpPr>
        <p:spPr>
          <a:xfrm>
            <a:off x="7641770" y="4295553"/>
            <a:ext cx="4259612" cy="2018056"/>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r>
              <a:rPr lang="en-US" sz="2000" dirty="0"/>
              <a:t>Mössbauer (recoilless) scattering</a:t>
            </a:r>
          </a:p>
        </p:txBody>
      </p:sp>
      <p:sp>
        <p:nvSpPr>
          <p:cNvPr id="2" name="Title 1">
            <a:extLst>
              <a:ext uri="{FF2B5EF4-FFF2-40B4-BE49-F238E27FC236}">
                <a16:creationId xmlns:a16="http://schemas.microsoft.com/office/drawing/2014/main" id="{743E66F4-E6C5-8E2E-BF07-B18B538368F6}"/>
              </a:ext>
            </a:extLst>
          </p:cNvPr>
          <p:cNvSpPr>
            <a:spLocks noGrp="1"/>
          </p:cNvSpPr>
          <p:nvPr>
            <p:ph type="title"/>
          </p:nvPr>
        </p:nvSpPr>
        <p:spPr/>
        <p:txBody>
          <a:bodyPr/>
          <a:lstStyle/>
          <a:p>
            <a:r>
              <a:rPr lang="en-US" dirty="0"/>
              <a:t>Light Scattering from Single Atoms</a:t>
            </a:r>
          </a:p>
        </p:txBody>
      </p:sp>
      <p:sp>
        <p:nvSpPr>
          <p:cNvPr id="3" name="Content Placeholder 2">
            <a:extLst>
              <a:ext uri="{FF2B5EF4-FFF2-40B4-BE49-F238E27FC236}">
                <a16:creationId xmlns:a16="http://schemas.microsoft.com/office/drawing/2014/main" id="{A9C48FBC-50D4-5C52-7C17-BFA648E9BDF9}"/>
              </a:ext>
            </a:extLst>
          </p:cNvPr>
          <p:cNvSpPr>
            <a:spLocks noGrp="1"/>
          </p:cNvSpPr>
          <p:nvPr>
            <p:ph sz="half" idx="1"/>
          </p:nvPr>
        </p:nvSpPr>
        <p:spPr>
          <a:xfrm>
            <a:off x="838199" y="1825624"/>
            <a:ext cx="6629837" cy="4487985"/>
          </a:xfrm>
          <a:solidFill>
            <a:schemeClr val="bg1"/>
          </a:solidFill>
          <a:ln w="28575">
            <a:solidFill>
              <a:schemeClr val="tx1"/>
            </a:solidFill>
          </a:ln>
          <a:effectLst>
            <a:outerShdw blurRad="50800" dist="38100" dir="2700000" algn="tl" rotWithShape="0">
              <a:prstClr val="black">
                <a:alpha val="40000"/>
              </a:prstClr>
            </a:outerShdw>
          </a:effectLst>
        </p:spPr>
        <p:txBody>
          <a:bodyPr>
            <a:normAutofit/>
          </a:bodyPr>
          <a:lstStyle/>
          <a:p>
            <a:pPr marL="0" indent="0">
              <a:buNone/>
            </a:pPr>
            <a:r>
              <a:rPr lang="en-US" sz="2000" dirty="0"/>
              <a:t>Rayleigh scattering</a:t>
            </a:r>
          </a:p>
          <a:p>
            <a:endParaRPr lang="en-US" sz="2000" dirty="0"/>
          </a:p>
        </p:txBody>
      </p:sp>
      <p:sp>
        <p:nvSpPr>
          <p:cNvPr id="10" name="Content Placeholder 9">
            <a:extLst>
              <a:ext uri="{FF2B5EF4-FFF2-40B4-BE49-F238E27FC236}">
                <a16:creationId xmlns:a16="http://schemas.microsoft.com/office/drawing/2014/main" id="{C809D620-AD2C-3A13-0CBA-27F8025EA708}"/>
              </a:ext>
            </a:extLst>
          </p:cNvPr>
          <p:cNvSpPr>
            <a:spLocks noGrp="1"/>
          </p:cNvSpPr>
          <p:nvPr>
            <p:ph sz="half" idx="2"/>
          </p:nvPr>
        </p:nvSpPr>
        <p:spPr>
          <a:xfrm>
            <a:off x="7641770" y="1825624"/>
            <a:ext cx="4259612" cy="2308325"/>
          </a:xfrm>
          <a:solidFill>
            <a:schemeClr val="bg1"/>
          </a:solidFill>
          <a:ln w="28575">
            <a:solidFill>
              <a:schemeClr val="tx1"/>
            </a:solidFill>
          </a:ln>
          <a:effectLst>
            <a:outerShdw blurRad="50800" dist="38100" dir="2700000" algn="tl" rotWithShape="0">
              <a:prstClr val="black">
                <a:alpha val="40000"/>
              </a:prstClr>
            </a:outerShdw>
          </a:effectLst>
        </p:spPr>
        <p:txBody>
          <a:bodyPr>
            <a:normAutofit/>
          </a:bodyPr>
          <a:lstStyle/>
          <a:p>
            <a:pPr marL="0" indent="0">
              <a:buNone/>
            </a:pPr>
            <a:r>
              <a:rPr lang="en-US" sz="2000" dirty="0"/>
              <a:t>Double-slit gedankenexperiment</a:t>
            </a:r>
          </a:p>
          <a:p>
            <a:endParaRPr lang="en-US" sz="2000" dirty="0"/>
          </a:p>
          <a:p>
            <a:endParaRPr lang="en-US" sz="2000" dirty="0"/>
          </a:p>
          <a:p>
            <a:endParaRPr lang="en-US" sz="2000" dirty="0"/>
          </a:p>
          <a:p>
            <a:pPr marL="0" indent="0">
              <a:buNone/>
            </a:pPr>
            <a:endParaRPr lang="en-US" sz="2000" dirty="0"/>
          </a:p>
        </p:txBody>
      </p:sp>
      <p:sp>
        <p:nvSpPr>
          <p:cNvPr id="4" name="Date Placeholder 3">
            <a:extLst>
              <a:ext uri="{FF2B5EF4-FFF2-40B4-BE49-F238E27FC236}">
                <a16:creationId xmlns:a16="http://schemas.microsoft.com/office/drawing/2014/main" id="{F6B6272B-2741-7807-5743-B580B9D97EDA}"/>
              </a:ext>
            </a:extLst>
          </p:cNvPr>
          <p:cNvSpPr>
            <a:spLocks noGrp="1"/>
          </p:cNvSpPr>
          <p:nvPr>
            <p:ph type="dt" sz="half" idx="10"/>
          </p:nvPr>
        </p:nvSpPr>
        <p:spPr/>
        <p:txBody>
          <a:bodyPr/>
          <a:lstStyle/>
          <a:p>
            <a:fld id="{99EFC380-EFE0-476E-B5C0-92FF516CBFDE}" type="datetime1">
              <a:rPr lang="en-US" smtClean="0"/>
              <a:t>5/28/2026</a:t>
            </a:fld>
            <a:endParaRPr lang="en-US"/>
          </a:p>
        </p:txBody>
      </p:sp>
      <p:sp>
        <p:nvSpPr>
          <p:cNvPr id="5" name="Footer Placeholder 4">
            <a:extLst>
              <a:ext uri="{FF2B5EF4-FFF2-40B4-BE49-F238E27FC236}">
                <a16:creationId xmlns:a16="http://schemas.microsoft.com/office/drawing/2014/main" id="{46B17D1E-A679-C7B9-E5C5-21BBCD7915C4}"/>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E90F5357-B9CC-85AC-74FF-F80C6FFAE921}"/>
              </a:ext>
            </a:extLst>
          </p:cNvPr>
          <p:cNvSpPr>
            <a:spLocks noGrp="1"/>
          </p:cNvSpPr>
          <p:nvPr>
            <p:ph type="sldNum" sz="quarter" idx="12"/>
          </p:nvPr>
        </p:nvSpPr>
        <p:spPr/>
        <p:txBody>
          <a:bodyPr/>
          <a:lstStyle/>
          <a:p>
            <a:fld id="{A18CFF8F-6617-428E-9314-96DE529C98C8}" type="slidenum">
              <a:rPr lang="en-US" smtClean="0"/>
              <a:t>2</a:t>
            </a:fld>
            <a:endParaRPr lang="en-US"/>
          </a:p>
        </p:txBody>
      </p:sp>
      <p:pic>
        <p:nvPicPr>
          <p:cNvPr id="8" name="Picture 7" descr="sunset">
            <a:extLst>
              <a:ext uri="{FF2B5EF4-FFF2-40B4-BE49-F238E27FC236}">
                <a16:creationId xmlns:a16="http://schemas.microsoft.com/office/drawing/2014/main" id="{B115469A-A81E-B56D-54AF-038AF03D4D47}"/>
              </a:ext>
            </a:extLst>
          </p:cNvPr>
          <p:cNvPicPr>
            <a:picLocks noChangeAspect="1"/>
          </p:cNvPicPr>
          <p:nvPr/>
        </p:nvPicPr>
        <p:blipFill>
          <a:blip r:embed="rId3"/>
          <a:stretch>
            <a:fillRect/>
          </a:stretch>
        </p:blipFill>
        <p:spPr>
          <a:xfrm>
            <a:off x="1329717" y="2258512"/>
            <a:ext cx="5709040" cy="3806026"/>
          </a:xfrm>
          <a:prstGeom prst="rect">
            <a:avLst/>
          </a:prstGeom>
        </p:spPr>
      </p:pic>
      <p:pic>
        <p:nvPicPr>
          <p:cNvPr id="9" name="Picture 8">
            <a:extLst>
              <a:ext uri="{FF2B5EF4-FFF2-40B4-BE49-F238E27FC236}">
                <a16:creationId xmlns:a16="http://schemas.microsoft.com/office/drawing/2014/main" id="{D5ED3D21-1DAA-463B-B98C-B78D4DDAE65D}"/>
              </a:ext>
            </a:extLst>
          </p:cNvPr>
          <p:cNvPicPr>
            <a:picLocks noChangeAspect="1"/>
          </p:cNvPicPr>
          <p:nvPr/>
        </p:nvPicPr>
        <p:blipFill>
          <a:blip r:embed="rId4"/>
          <a:stretch>
            <a:fillRect/>
          </a:stretch>
        </p:blipFill>
        <p:spPr>
          <a:xfrm>
            <a:off x="8513640" y="4609368"/>
            <a:ext cx="2784729" cy="1591791"/>
          </a:xfrm>
          <a:prstGeom prst="rect">
            <a:avLst/>
          </a:prstGeom>
        </p:spPr>
      </p:pic>
      <p:pic>
        <p:nvPicPr>
          <p:cNvPr id="15" name="Picture 14" descr="Figure shows a beam of red light with two atom icons in it, going through a hole. A screen depicts bending red light.">
            <a:extLst>
              <a:ext uri="{FF2B5EF4-FFF2-40B4-BE49-F238E27FC236}">
                <a16:creationId xmlns:a16="http://schemas.microsoft.com/office/drawing/2014/main" id="{B62FEBD1-90AD-4204-2410-CB70A748A538}"/>
              </a:ext>
            </a:extLst>
          </p:cNvPr>
          <p:cNvPicPr>
            <a:picLocks noChangeAspect="1"/>
          </p:cNvPicPr>
          <p:nvPr/>
        </p:nvPicPr>
        <p:blipFill>
          <a:blip r:embed="rId5"/>
          <a:stretch>
            <a:fillRect/>
          </a:stretch>
        </p:blipFill>
        <p:spPr>
          <a:xfrm>
            <a:off x="8562541" y="2258512"/>
            <a:ext cx="2418069" cy="1612046"/>
          </a:xfrm>
          <a:prstGeom prst="rect">
            <a:avLst/>
          </a:prstGeom>
        </p:spPr>
      </p:pic>
      <p:sp>
        <p:nvSpPr>
          <p:cNvPr id="13" name="TextBox 12">
            <a:extLst>
              <a:ext uri="{FF2B5EF4-FFF2-40B4-BE49-F238E27FC236}">
                <a16:creationId xmlns:a16="http://schemas.microsoft.com/office/drawing/2014/main" id="{7C288C97-3CCB-2262-ADBE-39D64B622597}"/>
              </a:ext>
            </a:extLst>
          </p:cNvPr>
          <p:cNvSpPr txBox="1"/>
          <p:nvPr/>
        </p:nvSpPr>
        <p:spPr>
          <a:xfrm>
            <a:off x="7630281" y="1733430"/>
            <a:ext cx="4405775" cy="2492416"/>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14" name="TextBox 13">
            <a:extLst>
              <a:ext uri="{FF2B5EF4-FFF2-40B4-BE49-F238E27FC236}">
                <a16:creationId xmlns:a16="http://schemas.microsoft.com/office/drawing/2014/main" id="{0F34DDCC-7000-0532-4D11-44A67F0272F3}"/>
              </a:ext>
            </a:extLst>
          </p:cNvPr>
          <p:cNvSpPr txBox="1"/>
          <p:nvPr/>
        </p:nvSpPr>
        <p:spPr>
          <a:xfrm>
            <a:off x="7568687" y="4218758"/>
            <a:ext cx="4405775" cy="2267029"/>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Tree>
    <p:extLst>
      <p:ext uri="{BB962C8B-B14F-4D97-AF65-F5344CB8AC3E}">
        <p14:creationId xmlns:p14="http://schemas.microsoft.com/office/powerpoint/2010/main" val="106263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9A70C-5681-490F-40D5-D02528EDDC9A}"/>
              </a:ext>
            </a:extLst>
          </p:cNvPr>
          <p:cNvSpPr>
            <a:spLocks noGrp="1"/>
          </p:cNvSpPr>
          <p:nvPr>
            <p:ph type="title"/>
          </p:nvPr>
        </p:nvSpPr>
        <p:spPr/>
        <p:txBody>
          <a:bodyPr/>
          <a:lstStyle/>
          <a:p>
            <a:r>
              <a:rPr lang="en-US" dirty="0"/>
              <a:t>Collective Scattering</a:t>
            </a:r>
          </a:p>
        </p:txBody>
      </p:sp>
      <p:sp>
        <p:nvSpPr>
          <p:cNvPr id="4" name="Date Placeholder 3">
            <a:extLst>
              <a:ext uri="{FF2B5EF4-FFF2-40B4-BE49-F238E27FC236}">
                <a16:creationId xmlns:a16="http://schemas.microsoft.com/office/drawing/2014/main" id="{6E5AEFDE-95D3-7BF7-B6F1-5C1D3D1436EC}"/>
              </a:ext>
            </a:extLst>
          </p:cNvPr>
          <p:cNvSpPr>
            <a:spLocks noGrp="1"/>
          </p:cNvSpPr>
          <p:nvPr>
            <p:ph type="dt" sz="half" idx="10"/>
          </p:nvPr>
        </p:nvSpPr>
        <p:spPr/>
        <p:txBody>
          <a:bodyPr/>
          <a:lstStyle/>
          <a:p>
            <a:fld id="{78D8C808-0C09-43D5-A611-4F407D1814EC}" type="datetime1">
              <a:rPr lang="en-US" smtClean="0"/>
              <a:t>5/28/2026</a:t>
            </a:fld>
            <a:endParaRPr lang="en-US"/>
          </a:p>
        </p:txBody>
      </p:sp>
      <p:sp>
        <p:nvSpPr>
          <p:cNvPr id="5" name="Footer Placeholder 4">
            <a:extLst>
              <a:ext uri="{FF2B5EF4-FFF2-40B4-BE49-F238E27FC236}">
                <a16:creationId xmlns:a16="http://schemas.microsoft.com/office/drawing/2014/main" id="{EC0B46B8-AD19-B972-F019-D3AABEFB7AB0}"/>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E7E35D92-BEC8-B9DA-5A1A-24781DAA03DA}"/>
              </a:ext>
            </a:extLst>
          </p:cNvPr>
          <p:cNvSpPr>
            <a:spLocks noGrp="1"/>
          </p:cNvSpPr>
          <p:nvPr>
            <p:ph type="sldNum" sz="quarter" idx="12"/>
          </p:nvPr>
        </p:nvSpPr>
        <p:spPr/>
        <p:txBody>
          <a:bodyPr/>
          <a:lstStyle/>
          <a:p>
            <a:fld id="{A18CFF8F-6617-428E-9314-96DE529C98C8}" type="slidenum">
              <a:rPr lang="en-US" smtClean="0"/>
              <a:t>3</a:t>
            </a:fld>
            <a:endParaRPr lang="en-US"/>
          </a:p>
        </p:txBody>
      </p:sp>
      <p:grpSp>
        <p:nvGrpSpPr>
          <p:cNvPr id="27" name="Group 26">
            <a:extLst>
              <a:ext uri="{FF2B5EF4-FFF2-40B4-BE49-F238E27FC236}">
                <a16:creationId xmlns:a16="http://schemas.microsoft.com/office/drawing/2014/main" id="{54658D06-DC66-448C-A3C6-E0E343C2AEFD}"/>
              </a:ext>
            </a:extLst>
          </p:cNvPr>
          <p:cNvGrpSpPr/>
          <p:nvPr/>
        </p:nvGrpSpPr>
        <p:grpSpPr>
          <a:xfrm>
            <a:off x="4468980" y="1690688"/>
            <a:ext cx="3409507" cy="4285447"/>
            <a:chOff x="921489" y="1690688"/>
            <a:chExt cx="3409507" cy="4285447"/>
          </a:xfrm>
        </p:grpSpPr>
        <p:sp>
          <p:nvSpPr>
            <p:cNvPr id="10" name="TextBox 9">
              <a:extLst>
                <a:ext uri="{FF2B5EF4-FFF2-40B4-BE49-F238E27FC236}">
                  <a16:creationId xmlns:a16="http://schemas.microsoft.com/office/drawing/2014/main" id="{24012FA2-BA10-FA51-9CCE-F060E6460DB0}"/>
                </a:ext>
              </a:extLst>
            </p:cNvPr>
            <p:cNvSpPr txBox="1"/>
            <p:nvPr/>
          </p:nvSpPr>
          <p:spPr>
            <a:xfrm>
              <a:off x="921489" y="1690688"/>
              <a:ext cx="3409507" cy="4285447"/>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chor="t">
              <a:normAutofit/>
            </a:bodyPr>
            <a:lstStyle/>
            <a:p>
              <a:r>
                <a:rPr lang="en-US" sz="1600" b="1" dirty="0"/>
                <a:t>Atomically thin mirrors</a:t>
              </a:r>
            </a:p>
            <a:p>
              <a:r>
                <a:rPr lang="en-US" sz="1200" dirty="0"/>
                <a:t>Nature 583, 369–374 (2020)</a:t>
              </a:r>
            </a:p>
          </p:txBody>
        </p:sp>
        <p:pic>
          <p:nvPicPr>
            <p:cNvPr id="9" name="Picture 8">
              <a:extLst>
                <a:ext uri="{FF2B5EF4-FFF2-40B4-BE49-F238E27FC236}">
                  <a16:creationId xmlns:a16="http://schemas.microsoft.com/office/drawing/2014/main" id="{5840BB08-86F1-3B83-0236-3B2DA5BE167B}"/>
                </a:ext>
              </a:extLst>
            </p:cNvPr>
            <p:cNvPicPr>
              <a:picLocks noChangeAspect="1"/>
            </p:cNvPicPr>
            <p:nvPr/>
          </p:nvPicPr>
          <p:blipFill>
            <a:blip r:embed="rId3"/>
            <a:stretch>
              <a:fillRect/>
            </a:stretch>
          </p:blipFill>
          <p:spPr>
            <a:xfrm>
              <a:off x="1266807" y="2423885"/>
              <a:ext cx="2712869" cy="3404298"/>
            </a:xfrm>
            <a:prstGeom prst="rect">
              <a:avLst/>
            </a:prstGeom>
          </p:spPr>
        </p:pic>
      </p:grpSp>
      <p:grpSp>
        <p:nvGrpSpPr>
          <p:cNvPr id="25" name="Group 24">
            <a:extLst>
              <a:ext uri="{FF2B5EF4-FFF2-40B4-BE49-F238E27FC236}">
                <a16:creationId xmlns:a16="http://schemas.microsoft.com/office/drawing/2014/main" id="{775FE878-6A38-8CB1-0823-C51F692D269B}"/>
              </a:ext>
            </a:extLst>
          </p:cNvPr>
          <p:cNvGrpSpPr/>
          <p:nvPr/>
        </p:nvGrpSpPr>
        <p:grpSpPr>
          <a:xfrm>
            <a:off x="8033952" y="1690688"/>
            <a:ext cx="3409507" cy="2147162"/>
            <a:chOff x="4468977" y="1690688"/>
            <a:chExt cx="3409507" cy="2147162"/>
          </a:xfrm>
        </p:grpSpPr>
        <p:sp>
          <p:nvSpPr>
            <p:cNvPr id="13" name="TextBox 12">
              <a:extLst>
                <a:ext uri="{FF2B5EF4-FFF2-40B4-BE49-F238E27FC236}">
                  <a16:creationId xmlns:a16="http://schemas.microsoft.com/office/drawing/2014/main" id="{BBBB04F0-1DAE-BEF8-11C5-BDA131EE71C5}"/>
                </a:ext>
              </a:extLst>
            </p:cNvPr>
            <p:cNvSpPr txBox="1"/>
            <p:nvPr/>
          </p:nvSpPr>
          <p:spPr>
            <a:xfrm>
              <a:off x="4468977" y="1690688"/>
              <a:ext cx="3409507" cy="2147162"/>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chor="t">
              <a:normAutofit/>
            </a:bodyPr>
            <a:lstStyle/>
            <a:p>
              <a:r>
                <a:rPr lang="en-US" sz="1600" b="1" dirty="0"/>
                <a:t>Superradiant and </a:t>
              </a:r>
              <a:r>
                <a:rPr lang="en-US" sz="1600" b="1" dirty="0" err="1"/>
                <a:t>subradiant</a:t>
              </a:r>
              <a:r>
                <a:rPr lang="en-US" sz="1600" b="1" dirty="0"/>
                <a:t> cavity scattering</a:t>
              </a:r>
            </a:p>
            <a:p>
              <a:r>
                <a:rPr lang="en-US" sz="1200" dirty="0"/>
                <a:t>Phys. Rev. Lett. 131, 253603 (2023)</a:t>
              </a:r>
            </a:p>
          </p:txBody>
        </p:sp>
        <p:pic>
          <p:nvPicPr>
            <p:cNvPr id="15" name="Picture 14">
              <a:extLst>
                <a:ext uri="{FF2B5EF4-FFF2-40B4-BE49-F238E27FC236}">
                  <a16:creationId xmlns:a16="http://schemas.microsoft.com/office/drawing/2014/main" id="{9C1DAA80-A214-B879-DF63-2E30C9B86C6A}"/>
                </a:ext>
              </a:extLst>
            </p:cNvPr>
            <p:cNvPicPr>
              <a:picLocks noChangeAspect="1"/>
            </p:cNvPicPr>
            <p:nvPr/>
          </p:nvPicPr>
          <p:blipFill>
            <a:blip r:embed="rId4"/>
            <a:stretch>
              <a:fillRect/>
            </a:stretch>
          </p:blipFill>
          <p:spPr>
            <a:xfrm>
              <a:off x="5271659" y="2444359"/>
              <a:ext cx="1648681" cy="1192663"/>
            </a:xfrm>
            <a:prstGeom prst="rect">
              <a:avLst/>
            </a:prstGeom>
          </p:spPr>
        </p:pic>
      </p:grpSp>
      <p:grpSp>
        <p:nvGrpSpPr>
          <p:cNvPr id="26" name="Group 25">
            <a:extLst>
              <a:ext uri="{FF2B5EF4-FFF2-40B4-BE49-F238E27FC236}">
                <a16:creationId xmlns:a16="http://schemas.microsoft.com/office/drawing/2014/main" id="{D94D5718-EB30-B36D-D5EC-53CE9B226EB9}"/>
              </a:ext>
            </a:extLst>
          </p:cNvPr>
          <p:cNvGrpSpPr/>
          <p:nvPr/>
        </p:nvGrpSpPr>
        <p:grpSpPr>
          <a:xfrm>
            <a:off x="8033952" y="4012799"/>
            <a:ext cx="3409507" cy="1958898"/>
            <a:chOff x="4473114" y="4017237"/>
            <a:chExt cx="3409507" cy="1958898"/>
          </a:xfrm>
        </p:grpSpPr>
        <p:sp>
          <p:nvSpPr>
            <p:cNvPr id="18" name="TextBox 17">
              <a:extLst>
                <a:ext uri="{FF2B5EF4-FFF2-40B4-BE49-F238E27FC236}">
                  <a16:creationId xmlns:a16="http://schemas.microsoft.com/office/drawing/2014/main" id="{3F3F025A-B262-A353-2755-AB3079A1D13B}"/>
                </a:ext>
              </a:extLst>
            </p:cNvPr>
            <p:cNvSpPr txBox="1"/>
            <p:nvPr/>
          </p:nvSpPr>
          <p:spPr>
            <a:xfrm>
              <a:off x="4473114" y="4017237"/>
              <a:ext cx="3409507" cy="1958898"/>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chor="t">
              <a:normAutofit/>
            </a:bodyPr>
            <a:lstStyle/>
            <a:p>
              <a:r>
                <a:rPr lang="en-US" sz="1600" b="1" dirty="0"/>
                <a:t>Sub-</a:t>
              </a:r>
              <a:r>
                <a:rPr lang="en-US" sz="1600" b="1" dirty="0" err="1"/>
                <a:t>Poissonian</a:t>
              </a:r>
              <a:r>
                <a:rPr lang="en-US" sz="1600" b="1" dirty="0"/>
                <a:t> tweezer loading</a:t>
              </a:r>
            </a:p>
            <a:p>
              <a:r>
                <a:rPr lang="en-US" sz="1200" dirty="0"/>
                <a:t>Nature 411, 1024 (2001)</a:t>
              </a:r>
            </a:p>
          </p:txBody>
        </p:sp>
        <p:pic>
          <p:nvPicPr>
            <p:cNvPr id="17" name="Picture 16">
              <a:extLst>
                <a:ext uri="{FF2B5EF4-FFF2-40B4-BE49-F238E27FC236}">
                  <a16:creationId xmlns:a16="http://schemas.microsoft.com/office/drawing/2014/main" id="{B7708EEA-F599-A759-C769-B82776A69661}"/>
                </a:ext>
              </a:extLst>
            </p:cNvPr>
            <p:cNvPicPr>
              <a:picLocks noChangeAspect="1"/>
            </p:cNvPicPr>
            <p:nvPr/>
          </p:nvPicPr>
          <p:blipFill>
            <a:blip r:embed="rId5"/>
            <a:stretch>
              <a:fillRect/>
            </a:stretch>
          </p:blipFill>
          <p:spPr>
            <a:xfrm>
              <a:off x="5206532" y="4594313"/>
              <a:ext cx="1642924" cy="1298402"/>
            </a:xfrm>
            <a:prstGeom prst="rect">
              <a:avLst/>
            </a:prstGeom>
          </p:spPr>
        </p:pic>
      </p:grpSp>
      <p:grpSp>
        <p:nvGrpSpPr>
          <p:cNvPr id="28" name="Group 27">
            <a:extLst>
              <a:ext uri="{FF2B5EF4-FFF2-40B4-BE49-F238E27FC236}">
                <a16:creationId xmlns:a16="http://schemas.microsoft.com/office/drawing/2014/main" id="{FBE43E08-6CD6-C34D-5CBE-78D1A421E2C5}"/>
              </a:ext>
            </a:extLst>
          </p:cNvPr>
          <p:cNvGrpSpPr/>
          <p:nvPr/>
        </p:nvGrpSpPr>
        <p:grpSpPr>
          <a:xfrm>
            <a:off x="904008" y="1695125"/>
            <a:ext cx="3409507" cy="4285447"/>
            <a:chOff x="8013283" y="1690688"/>
            <a:chExt cx="3409507" cy="4285447"/>
          </a:xfrm>
        </p:grpSpPr>
        <p:sp>
          <p:nvSpPr>
            <p:cNvPr id="21" name="TextBox 20">
              <a:extLst>
                <a:ext uri="{FF2B5EF4-FFF2-40B4-BE49-F238E27FC236}">
                  <a16:creationId xmlns:a16="http://schemas.microsoft.com/office/drawing/2014/main" id="{8FB5C657-C100-57B5-6F07-01FF3B82F5EB}"/>
                </a:ext>
              </a:extLst>
            </p:cNvPr>
            <p:cNvSpPr txBox="1"/>
            <p:nvPr/>
          </p:nvSpPr>
          <p:spPr>
            <a:xfrm>
              <a:off x="8013283" y="1690688"/>
              <a:ext cx="3409507" cy="4285447"/>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chor="t">
              <a:normAutofit/>
            </a:bodyPr>
            <a:lstStyle/>
            <a:p>
              <a:r>
                <a:rPr lang="en-US" sz="1600" b="1" dirty="0"/>
                <a:t>Parity projection in quantum gas microscopes</a:t>
              </a:r>
            </a:p>
            <a:p>
              <a:r>
                <a:rPr lang="en-US" sz="1200" dirty="0"/>
                <a:t>Nature 462, 74 (2009)</a:t>
              </a:r>
            </a:p>
          </p:txBody>
        </p:sp>
        <p:pic>
          <p:nvPicPr>
            <p:cNvPr id="20" name="Picture 19">
              <a:extLst>
                <a:ext uri="{FF2B5EF4-FFF2-40B4-BE49-F238E27FC236}">
                  <a16:creationId xmlns:a16="http://schemas.microsoft.com/office/drawing/2014/main" id="{60E308E3-67C7-059A-A830-890182A60946}"/>
                </a:ext>
              </a:extLst>
            </p:cNvPr>
            <p:cNvPicPr>
              <a:picLocks noChangeAspect="1"/>
            </p:cNvPicPr>
            <p:nvPr/>
          </p:nvPicPr>
          <p:blipFill>
            <a:blip r:embed="rId6"/>
            <a:stretch>
              <a:fillRect/>
            </a:stretch>
          </p:blipFill>
          <p:spPr>
            <a:xfrm>
              <a:off x="8112011" y="2764269"/>
              <a:ext cx="3212049" cy="2710641"/>
            </a:xfrm>
            <a:prstGeom prst="rect">
              <a:avLst/>
            </a:prstGeom>
          </p:spPr>
        </p:pic>
      </p:grpSp>
      <p:sp>
        <p:nvSpPr>
          <p:cNvPr id="3" name="TextBox 2">
            <a:extLst>
              <a:ext uri="{FF2B5EF4-FFF2-40B4-BE49-F238E27FC236}">
                <a16:creationId xmlns:a16="http://schemas.microsoft.com/office/drawing/2014/main" id="{99EBDF22-7DC9-A4E0-2646-44E4D99640E4}"/>
              </a:ext>
            </a:extLst>
          </p:cNvPr>
          <p:cNvSpPr txBox="1"/>
          <p:nvPr/>
        </p:nvSpPr>
        <p:spPr>
          <a:xfrm>
            <a:off x="4370250" y="1383737"/>
            <a:ext cx="3606967" cy="4846942"/>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7" name="TextBox 6">
            <a:extLst>
              <a:ext uri="{FF2B5EF4-FFF2-40B4-BE49-F238E27FC236}">
                <a16:creationId xmlns:a16="http://schemas.microsoft.com/office/drawing/2014/main" id="{3B91D94E-2840-A952-840A-0BDE94F328B1}"/>
              </a:ext>
            </a:extLst>
          </p:cNvPr>
          <p:cNvSpPr txBox="1"/>
          <p:nvPr/>
        </p:nvSpPr>
        <p:spPr>
          <a:xfrm>
            <a:off x="7977217" y="1597746"/>
            <a:ext cx="3574043" cy="4471332"/>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Tree>
    <p:extLst>
      <p:ext uri="{BB962C8B-B14F-4D97-AF65-F5344CB8AC3E}">
        <p14:creationId xmlns:p14="http://schemas.microsoft.com/office/powerpoint/2010/main" val="84894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F38AF4-4E96-7D6D-AD0C-99DBEDCF1E7D}"/>
              </a:ext>
            </a:extLst>
          </p:cNvPr>
          <p:cNvSpPr>
            <a:spLocks noGrp="1"/>
          </p:cNvSpPr>
          <p:nvPr>
            <p:ph sz="half" idx="1"/>
          </p:nvPr>
        </p:nvSpPr>
        <p:spPr>
          <a:xfrm>
            <a:off x="7024576" y="1722595"/>
            <a:ext cx="4453269" cy="4192866"/>
          </a:xfrm>
          <a:solidFill>
            <a:schemeClr val="bg1"/>
          </a:solidFill>
          <a:ln w="28575">
            <a:solidFill>
              <a:schemeClr val="tx1"/>
            </a:solidFill>
          </a:ln>
          <a:effectLst>
            <a:outerShdw blurRad="50800" dist="38100" dir="2700000" algn="tl" rotWithShape="0">
              <a:prstClr val="black">
                <a:alpha val="40000"/>
              </a:prstClr>
            </a:outerShdw>
          </a:effectLst>
        </p:spPr>
        <p:txBody>
          <a:bodyPr>
            <a:normAutofit/>
          </a:bodyPr>
          <a:lstStyle/>
          <a:p>
            <a:r>
              <a:rPr lang="en-US" sz="2000" dirty="0"/>
              <a:t>Blue-detuned light leads to repulsive dipole-dipole interactions</a:t>
            </a:r>
          </a:p>
          <a:p>
            <a:r>
              <a:rPr lang="en-US" sz="2000" dirty="0"/>
              <a:t>Effect is large when atoms are closely spaced relative to resonance wavelength </a:t>
            </a:r>
            <a:r>
              <a:rPr lang="el-GR" sz="2000" dirty="0"/>
              <a:t>λ</a:t>
            </a:r>
            <a:endParaRPr lang="en-US" sz="2000" dirty="0"/>
          </a:p>
          <a:p>
            <a:endParaRPr lang="en-US" sz="2000" dirty="0"/>
          </a:p>
          <a:p>
            <a:endParaRPr lang="en-US" sz="2000" dirty="0"/>
          </a:p>
        </p:txBody>
      </p:sp>
      <p:pic>
        <p:nvPicPr>
          <p:cNvPr id="11" name="Picture 10">
            <a:extLst>
              <a:ext uri="{FF2B5EF4-FFF2-40B4-BE49-F238E27FC236}">
                <a16:creationId xmlns:a16="http://schemas.microsoft.com/office/drawing/2014/main" id="{993C536D-8643-8156-DDD2-68E5603B65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6909" y="3359888"/>
            <a:ext cx="2465083" cy="2352830"/>
          </a:xfrm>
          <a:prstGeom prst="rect">
            <a:avLst/>
          </a:prstGeom>
        </p:spPr>
      </p:pic>
      <p:sp>
        <p:nvSpPr>
          <p:cNvPr id="7" name="TextBox 6">
            <a:extLst>
              <a:ext uri="{FF2B5EF4-FFF2-40B4-BE49-F238E27FC236}">
                <a16:creationId xmlns:a16="http://schemas.microsoft.com/office/drawing/2014/main" id="{5DD5AAE2-2B0F-646C-CD02-AC39A77420DB}"/>
              </a:ext>
            </a:extLst>
          </p:cNvPr>
          <p:cNvSpPr txBox="1"/>
          <p:nvPr/>
        </p:nvSpPr>
        <p:spPr>
          <a:xfrm>
            <a:off x="6901050" y="1681384"/>
            <a:ext cx="4816029" cy="4542207"/>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2" name="Title 1">
            <a:extLst>
              <a:ext uri="{FF2B5EF4-FFF2-40B4-BE49-F238E27FC236}">
                <a16:creationId xmlns:a16="http://schemas.microsoft.com/office/drawing/2014/main" id="{78444026-157F-9B7A-0CD1-7EB2E0E8F905}"/>
              </a:ext>
            </a:extLst>
          </p:cNvPr>
          <p:cNvSpPr>
            <a:spLocks noGrp="1"/>
          </p:cNvSpPr>
          <p:nvPr>
            <p:ph type="title"/>
          </p:nvPr>
        </p:nvSpPr>
        <p:spPr/>
        <p:txBody>
          <a:bodyPr/>
          <a:lstStyle/>
          <a:p>
            <a:r>
              <a:rPr lang="en-US" dirty="0"/>
              <a:t>The Role of Interactions</a:t>
            </a:r>
          </a:p>
        </p:txBody>
      </p:sp>
      <p:sp>
        <p:nvSpPr>
          <p:cNvPr id="22" name="Content Placeholder 21">
            <a:extLst>
              <a:ext uri="{FF2B5EF4-FFF2-40B4-BE49-F238E27FC236}">
                <a16:creationId xmlns:a16="http://schemas.microsoft.com/office/drawing/2014/main" id="{AF4F04F2-E2FB-D0EB-E32B-0DF442EDCBDE}"/>
              </a:ext>
            </a:extLst>
          </p:cNvPr>
          <p:cNvSpPr>
            <a:spLocks noGrp="1"/>
          </p:cNvSpPr>
          <p:nvPr>
            <p:ph sz="half" idx="2"/>
          </p:nvPr>
        </p:nvSpPr>
        <p:spPr>
          <a:xfrm>
            <a:off x="990600" y="1722594"/>
            <a:ext cx="5835502" cy="4192867"/>
          </a:xfrm>
          <a:solidFill>
            <a:schemeClr val="bg1"/>
          </a:solidFill>
          <a:ln w="28575">
            <a:solidFill>
              <a:schemeClr val="tx1"/>
            </a:solidFill>
          </a:ln>
          <a:effectLst>
            <a:outerShdw blurRad="50800" dist="38100" dir="2700000" algn="tl" rotWithShape="0">
              <a:prstClr val="black">
                <a:alpha val="40000"/>
              </a:prstClr>
            </a:outerShdw>
          </a:effectLst>
        </p:spPr>
        <p:txBody>
          <a:bodyPr>
            <a:normAutofit/>
          </a:bodyPr>
          <a:lstStyle/>
          <a:p>
            <a:pPr marL="0" indent="0">
              <a:buNone/>
            </a:pPr>
            <a:r>
              <a:rPr lang="en-US" sz="2000" dirty="0"/>
              <a:t>N-particle scattering: Dicke superradiance</a:t>
            </a:r>
          </a:p>
          <a:p>
            <a:pPr marL="0" indent="0">
              <a:buNone/>
            </a:pPr>
            <a:r>
              <a:rPr lang="en-US" sz="2000" dirty="0"/>
              <a:t>Light scattering properties </a:t>
            </a:r>
            <a:r>
              <a:rPr lang="en-US" sz="2000" b="1" dirty="0"/>
              <a:t>also</a:t>
            </a:r>
            <a:r>
              <a:rPr lang="en-US" sz="2000" dirty="0"/>
              <a:t> depend on</a:t>
            </a:r>
          </a:p>
          <a:p>
            <a:pPr lvl="1"/>
            <a:r>
              <a:rPr lang="en-US" sz="1800" dirty="0"/>
              <a:t>How tightly particles are localized</a:t>
            </a:r>
          </a:p>
          <a:p>
            <a:pPr lvl="1"/>
            <a:r>
              <a:rPr lang="en-US" sz="1800" dirty="0"/>
              <a:t>Light-induced dipole-dipole interaction</a:t>
            </a:r>
          </a:p>
          <a:p>
            <a:pPr lvl="1"/>
            <a:r>
              <a:rPr lang="en-US" sz="1800" dirty="0"/>
              <a:t>Contact interactions (scattering length) </a:t>
            </a:r>
          </a:p>
          <a:p>
            <a:endParaRPr lang="en-US" sz="2000" dirty="0"/>
          </a:p>
          <a:p>
            <a:endParaRPr lang="en-US" dirty="0"/>
          </a:p>
        </p:txBody>
      </p:sp>
      <p:sp>
        <p:nvSpPr>
          <p:cNvPr id="4" name="Date Placeholder 3">
            <a:extLst>
              <a:ext uri="{FF2B5EF4-FFF2-40B4-BE49-F238E27FC236}">
                <a16:creationId xmlns:a16="http://schemas.microsoft.com/office/drawing/2014/main" id="{EAE6C43B-6A76-54DD-3F62-025C23B5413F}"/>
              </a:ext>
            </a:extLst>
          </p:cNvPr>
          <p:cNvSpPr>
            <a:spLocks noGrp="1"/>
          </p:cNvSpPr>
          <p:nvPr>
            <p:ph type="dt" sz="half" idx="10"/>
          </p:nvPr>
        </p:nvSpPr>
        <p:spPr/>
        <p:txBody>
          <a:bodyPr/>
          <a:lstStyle/>
          <a:p>
            <a:fld id="{AD1BF92F-50A1-484D-81C5-1588E816C27C}" type="datetime1">
              <a:rPr lang="en-US" smtClean="0"/>
              <a:t>5/28/2026</a:t>
            </a:fld>
            <a:endParaRPr lang="en-US"/>
          </a:p>
        </p:txBody>
      </p:sp>
      <p:sp>
        <p:nvSpPr>
          <p:cNvPr id="5" name="Footer Placeholder 4">
            <a:extLst>
              <a:ext uri="{FF2B5EF4-FFF2-40B4-BE49-F238E27FC236}">
                <a16:creationId xmlns:a16="http://schemas.microsoft.com/office/drawing/2014/main" id="{8DA95F24-DA7B-0CB0-6061-D5CD935D2DA5}"/>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C5C08833-FE08-0A5B-A70F-DA1C5FA9D8B9}"/>
              </a:ext>
            </a:extLst>
          </p:cNvPr>
          <p:cNvSpPr>
            <a:spLocks noGrp="1"/>
          </p:cNvSpPr>
          <p:nvPr>
            <p:ph type="sldNum" sz="quarter" idx="12"/>
          </p:nvPr>
        </p:nvSpPr>
        <p:spPr/>
        <p:txBody>
          <a:bodyPr/>
          <a:lstStyle/>
          <a:p>
            <a:fld id="{A18CFF8F-6617-428E-9314-96DE529C98C8}" type="slidenum">
              <a:rPr lang="en-US" smtClean="0"/>
              <a:t>4</a:t>
            </a:fld>
            <a:endParaRPr lang="en-US"/>
          </a:p>
        </p:txBody>
      </p:sp>
      <p:pic>
        <p:nvPicPr>
          <p:cNvPr id="14" name="Picture 13">
            <a:extLst>
              <a:ext uri="{FF2B5EF4-FFF2-40B4-BE49-F238E27FC236}">
                <a16:creationId xmlns:a16="http://schemas.microsoft.com/office/drawing/2014/main" id="{A384BA44-76DA-974B-FF04-E4E24D9D330C}"/>
              </a:ext>
            </a:extLst>
          </p:cNvPr>
          <p:cNvPicPr>
            <a:picLocks noChangeAspect="1"/>
          </p:cNvPicPr>
          <p:nvPr/>
        </p:nvPicPr>
        <p:blipFill>
          <a:blip r:embed="rId3">
            <a:extLst>
              <a:ext uri="{28A0092B-C50C-407E-A947-70E740481C1C}">
                <a14:useLocalDpi xmlns:a14="http://schemas.microsoft.com/office/drawing/2010/main" val="0"/>
              </a:ext>
            </a:extLst>
          </a:blip>
          <a:srcRect t="13201"/>
          <a:stretch>
            <a:fillRect/>
          </a:stretch>
        </p:blipFill>
        <p:spPr>
          <a:xfrm>
            <a:off x="1630585" y="3429000"/>
            <a:ext cx="4816029" cy="2325417"/>
          </a:xfrm>
          <a:prstGeom prst="rect">
            <a:avLst/>
          </a:prstGeom>
        </p:spPr>
      </p:pic>
      <p:sp>
        <p:nvSpPr>
          <p:cNvPr id="25" name="Content Placeholder 11">
            <a:extLst>
              <a:ext uri="{FF2B5EF4-FFF2-40B4-BE49-F238E27FC236}">
                <a16:creationId xmlns:a16="http://schemas.microsoft.com/office/drawing/2014/main" id="{7CF18824-2D84-B3FB-11EE-69AFF25EC9DB}"/>
              </a:ext>
            </a:extLst>
          </p:cNvPr>
          <p:cNvSpPr txBox="1">
            <a:spLocks/>
          </p:cNvSpPr>
          <p:nvPr/>
        </p:nvSpPr>
        <p:spPr>
          <a:xfrm>
            <a:off x="7408388" y="5493399"/>
            <a:ext cx="4308691" cy="754358"/>
          </a:xfrm>
          <a:prstGeom prst="rect">
            <a:avLst/>
          </a:prstGeom>
          <a:solidFill>
            <a:srgbClr val="FFFF99"/>
          </a:solidFill>
          <a:ln w="28575">
            <a:solidFill>
              <a:schemeClr val="tx1"/>
            </a:solidFill>
          </a:ln>
          <a:effectLst>
            <a:outerShdw blurRad="50800" dist="38100" dir="2700000" algn="tl" rotWithShape="0">
              <a:prstClr val="black">
                <a:alpha val="40000"/>
              </a:prstClr>
            </a:outerShdw>
          </a:effectLst>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Gedankenexperiment with two atoms in a harmonic oscillator</a:t>
            </a:r>
          </a:p>
        </p:txBody>
      </p:sp>
      <p:sp>
        <p:nvSpPr>
          <p:cNvPr id="12" name="TextBox 11">
            <a:extLst>
              <a:ext uri="{FF2B5EF4-FFF2-40B4-BE49-F238E27FC236}">
                <a16:creationId xmlns:a16="http://schemas.microsoft.com/office/drawing/2014/main" id="{A40A753E-E044-6EE5-5500-589E436354C7}"/>
              </a:ext>
            </a:extLst>
          </p:cNvPr>
          <p:cNvSpPr txBox="1"/>
          <p:nvPr/>
        </p:nvSpPr>
        <p:spPr>
          <a:xfrm>
            <a:off x="1334819" y="5174511"/>
            <a:ext cx="5193571" cy="431103"/>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15" name="TextBox 14">
            <a:extLst>
              <a:ext uri="{FF2B5EF4-FFF2-40B4-BE49-F238E27FC236}">
                <a16:creationId xmlns:a16="http://schemas.microsoft.com/office/drawing/2014/main" id="{4F266DA0-2E6F-4F56-D630-3FB228990EF5}"/>
              </a:ext>
            </a:extLst>
          </p:cNvPr>
          <p:cNvSpPr txBox="1"/>
          <p:nvPr/>
        </p:nvSpPr>
        <p:spPr>
          <a:xfrm>
            <a:off x="1046595" y="2125141"/>
            <a:ext cx="5069610" cy="1303859"/>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grpSp>
        <p:nvGrpSpPr>
          <p:cNvPr id="29" name="Group 28">
            <a:extLst>
              <a:ext uri="{FF2B5EF4-FFF2-40B4-BE49-F238E27FC236}">
                <a16:creationId xmlns:a16="http://schemas.microsoft.com/office/drawing/2014/main" id="{56706C4C-002D-FC52-FDC1-7E606E8289C3}"/>
              </a:ext>
            </a:extLst>
          </p:cNvPr>
          <p:cNvGrpSpPr/>
          <p:nvPr/>
        </p:nvGrpSpPr>
        <p:grpSpPr>
          <a:xfrm>
            <a:off x="5514755" y="3721086"/>
            <a:ext cx="3161412" cy="1236506"/>
            <a:chOff x="5514755" y="3721086"/>
            <a:chExt cx="3161412" cy="1236506"/>
          </a:xfrm>
        </p:grpSpPr>
        <p:cxnSp>
          <p:nvCxnSpPr>
            <p:cNvPr id="17" name="Straight Connector 16">
              <a:extLst>
                <a:ext uri="{FF2B5EF4-FFF2-40B4-BE49-F238E27FC236}">
                  <a16:creationId xmlns:a16="http://schemas.microsoft.com/office/drawing/2014/main" id="{082CB50B-2C7C-460E-E938-735765C9D662}"/>
                </a:ext>
              </a:extLst>
            </p:cNvPr>
            <p:cNvCxnSpPr>
              <a:cxnSpLocks/>
            </p:cNvCxnSpPr>
            <p:nvPr/>
          </p:nvCxnSpPr>
          <p:spPr>
            <a:xfrm>
              <a:off x="5536019" y="3721086"/>
              <a:ext cx="3140148" cy="110461"/>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3DA18882-79DF-CA27-7BB4-E3DA5BD2B337}"/>
                </a:ext>
              </a:extLst>
            </p:cNvPr>
            <p:cNvCxnSpPr>
              <a:cxnSpLocks/>
            </p:cNvCxnSpPr>
            <p:nvPr/>
          </p:nvCxnSpPr>
          <p:spPr>
            <a:xfrm>
              <a:off x="5514755" y="3855713"/>
              <a:ext cx="2870790" cy="1101879"/>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4231142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5" grpId="0" animBg="1"/>
      <p:bldP spid="12"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F2FBFE03-C0D2-7B47-8AC1-1807B7DACD18}"/>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kern="1200">
                <a:solidFill>
                  <a:schemeClr val="tx1"/>
                </a:solidFill>
                <a:latin typeface="+mj-lt"/>
                <a:ea typeface="+mj-ea"/>
                <a:cs typeface="+mj-cs"/>
              </a:rPr>
              <a:t>Experiments and Results</a:t>
            </a:r>
          </a:p>
        </p:txBody>
      </p:sp>
      <p:sp>
        <p:nvSpPr>
          <p:cNvPr id="5" name="Text Placeholder 4">
            <a:extLst>
              <a:ext uri="{FF2B5EF4-FFF2-40B4-BE49-F238E27FC236}">
                <a16:creationId xmlns:a16="http://schemas.microsoft.com/office/drawing/2014/main" id="{37297B2A-C535-366F-01C3-1766D3E95AD4}"/>
              </a:ext>
            </a:extLst>
          </p:cNvPr>
          <p:cNvSpPr>
            <a:spLocks noGrp="1"/>
          </p:cNvSpPr>
          <p:nvPr>
            <p:ph type="body" idx="1"/>
          </p:nvPr>
        </p:nvSpPr>
        <p:spPr>
          <a:xfrm>
            <a:off x="643467" y="5277684"/>
            <a:ext cx="4620584" cy="775494"/>
          </a:xfrm>
        </p:spPr>
        <p:txBody>
          <a:bodyPr vert="horz" lIns="91440" tIns="45720" rIns="91440" bIns="45720" rtlCol="0">
            <a:normAutofit/>
          </a:bodyPr>
          <a:lstStyle/>
          <a:p>
            <a:endParaRPr lang="en-US" sz="1900" kern="1200" dirty="0">
              <a:solidFill>
                <a:schemeClr val="tx1"/>
              </a:solidFill>
              <a:latin typeface="+mn-lt"/>
              <a:ea typeface="+mn-ea"/>
              <a:cs typeface="+mn-cs"/>
            </a:endParaRPr>
          </a:p>
        </p:txBody>
      </p:sp>
      <p:sp>
        <p:nvSpPr>
          <p:cNvPr id="6" name="Date Placeholder 5">
            <a:extLst>
              <a:ext uri="{FF2B5EF4-FFF2-40B4-BE49-F238E27FC236}">
                <a16:creationId xmlns:a16="http://schemas.microsoft.com/office/drawing/2014/main" id="{C7CE018D-AC15-D51E-F233-C69C2FBADDC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92EEB00A-7316-4857-9712-8513A528C3C5}" type="datetime1">
              <a:rPr lang="en-US" smtClean="0">
                <a:solidFill>
                  <a:schemeClr val="tx1">
                    <a:tint val="75000"/>
                  </a:schemeClr>
                </a:solidFill>
              </a:rPr>
              <a:pPr>
                <a:spcAft>
                  <a:spcPts val="600"/>
                </a:spcAft>
              </a:pPr>
              <a:t>5/28/2026</a:t>
            </a:fld>
            <a:endParaRPr lang="en-US">
              <a:solidFill>
                <a:schemeClr val="tx1">
                  <a:tint val="75000"/>
                </a:schemeClr>
              </a:solidFill>
            </a:endParaRPr>
          </a:p>
        </p:txBody>
      </p:sp>
      <p:sp>
        <p:nvSpPr>
          <p:cNvPr id="7" name="Footer Placeholder 6">
            <a:extLst>
              <a:ext uri="{FF2B5EF4-FFF2-40B4-BE49-F238E27FC236}">
                <a16:creationId xmlns:a16="http://schemas.microsoft.com/office/drawing/2014/main" id="{4C2CE9C1-8FE3-29A6-BCBD-2D539D03224E}"/>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Light Scattering from Closely-Spaced Atom Pairs</a:t>
            </a:r>
          </a:p>
        </p:txBody>
      </p:sp>
      <p:sp>
        <p:nvSpPr>
          <p:cNvPr id="8" name="Slide Number Placeholder 7">
            <a:extLst>
              <a:ext uri="{FF2B5EF4-FFF2-40B4-BE49-F238E27FC236}">
                <a16:creationId xmlns:a16="http://schemas.microsoft.com/office/drawing/2014/main" id="{BE152098-7956-6222-C935-04BFA691501F}"/>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A18CFF8F-6617-428E-9314-96DE529C98C8}" type="slidenum">
              <a:rPr lang="en-US" smtClean="0">
                <a:solidFill>
                  <a:schemeClr val="tx1">
                    <a:tint val="75000"/>
                  </a:schemeClr>
                </a:solidFill>
              </a:rPr>
              <a:pPr>
                <a:spcAft>
                  <a:spcPts val="600"/>
                </a:spcAft>
              </a:pPr>
              <a:t>5</a:t>
            </a:fld>
            <a:endParaRPr lang="en-US">
              <a:solidFill>
                <a:schemeClr val="tx1">
                  <a:tint val="75000"/>
                </a:schemeClr>
              </a:solidFill>
            </a:endParaRPr>
          </a:p>
        </p:txBody>
      </p:sp>
      <p:pic>
        <p:nvPicPr>
          <p:cNvPr id="3" name="Picture 2">
            <a:extLst>
              <a:ext uri="{FF2B5EF4-FFF2-40B4-BE49-F238E27FC236}">
                <a16:creationId xmlns:a16="http://schemas.microsoft.com/office/drawing/2014/main" id="{2AFD221B-0557-CB29-43EE-73DA6E0982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6876" y="910585"/>
            <a:ext cx="5698348" cy="4535180"/>
          </a:xfrm>
          <a:prstGeom prst="rect">
            <a:avLst/>
          </a:prstGeom>
        </p:spPr>
      </p:pic>
    </p:spTree>
    <p:extLst>
      <p:ext uri="{BB962C8B-B14F-4D97-AF65-F5344CB8AC3E}">
        <p14:creationId xmlns:p14="http://schemas.microsoft.com/office/powerpoint/2010/main" val="775841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Box 58">
            <a:extLst>
              <a:ext uri="{FF2B5EF4-FFF2-40B4-BE49-F238E27FC236}">
                <a16:creationId xmlns:a16="http://schemas.microsoft.com/office/drawing/2014/main" id="{D34F3599-2F84-AA7F-0A0E-8AECF0C35558}"/>
              </a:ext>
            </a:extLst>
          </p:cNvPr>
          <p:cNvSpPr txBox="1"/>
          <p:nvPr/>
        </p:nvSpPr>
        <p:spPr>
          <a:xfrm>
            <a:off x="8087833" y="1601972"/>
            <a:ext cx="3465691" cy="4628706"/>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r>
              <a:rPr lang="en-US" sz="1600" b="1" dirty="0"/>
              <a:t>Elastic</a:t>
            </a:r>
            <a:r>
              <a:rPr lang="en-US" sz="1600" dirty="0"/>
              <a:t> light destructively interferes, so </a:t>
            </a:r>
            <a:r>
              <a:rPr lang="en-US" sz="1600" b="1" dirty="0"/>
              <a:t>inelastic</a:t>
            </a:r>
            <a:r>
              <a:rPr lang="en-US" sz="1600" dirty="0"/>
              <a:t> light is main contribution to intensity</a:t>
            </a:r>
          </a:p>
        </p:txBody>
      </p:sp>
      <p:sp>
        <p:nvSpPr>
          <p:cNvPr id="58" name="TextBox 57">
            <a:extLst>
              <a:ext uri="{FF2B5EF4-FFF2-40B4-BE49-F238E27FC236}">
                <a16:creationId xmlns:a16="http://schemas.microsoft.com/office/drawing/2014/main" id="{AF78D92C-9305-65D4-C261-E7B92B2F2674}"/>
              </a:ext>
            </a:extLst>
          </p:cNvPr>
          <p:cNvSpPr txBox="1"/>
          <p:nvPr/>
        </p:nvSpPr>
        <p:spPr>
          <a:xfrm>
            <a:off x="510363" y="1601972"/>
            <a:ext cx="3912781" cy="4628707"/>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2000" dirty="0"/>
              <a:t>Mott insulator in a cubic optical lattice: a generalized version of the double-slit experiment</a:t>
            </a:r>
          </a:p>
        </p:txBody>
      </p:sp>
      <p:pic>
        <p:nvPicPr>
          <p:cNvPr id="55" name="Content Placeholder 54">
            <a:extLst>
              <a:ext uri="{FF2B5EF4-FFF2-40B4-BE49-F238E27FC236}">
                <a16:creationId xmlns:a16="http://schemas.microsoft.com/office/drawing/2014/main" id="{FBDE887D-8E7F-39F3-9002-1BB2B8A8F6C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755642" y="2611763"/>
            <a:ext cx="2130072" cy="3369863"/>
          </a:xfrm>
          <a:prstGeom prst="rect">
            <a:avLst/>
          </a:prstGeom>
        </p:spPr>
      </p:pic>
      <p:sp>
        <p:nvSpPr>
          <p:cNvPr id="2" name="Title 1">
            <a:extLst>
              <a:ext uri="{FF2B5EF4-FFF2-40B4-BE49-F238E27FC236}">
                <a16:creationId xmlns:a16="http://schemas.microsoft.com/office/drawing/2014/main" id="{86C9B9F2-D86B-77DA-F8E8-902434D16C1F}"/>
              </a:ext>
            </a:extLst>
          </p:cNvPr>
          <p:cNvSpPr>
            <a:spLocks noGrp="1"/>
          </p:cNvSpPr>
          <p:nvPr>
            <p:ph type="title"/>
          </p:nvPr>
        </p:nvSpPr>
        <p:spPr/>
        <p:txBody>
          <a:bodyPr/>
          <a:lstStyle/>
          <a:p>
            <a:r>
              <a:rPr lang="en-US" dirty="0"/>
              <a:t>Elastic vs Inelastic Scattering</a:t>
            </a:r>
          </a:p>
        </p:txBody>
      </p:sp>
      <p:sp>
        <p:nvSpPr>
          <p:cNvPr id="4" name="Date Placeholder 3">
            <a:extLst>
              <a:ext uri="{FF2B5EF4-FFF2-40B4-BE49-F238E27FC236}">
                <a16:creationId xmlns:a16="http://schemas.microsoft.com/office/drawing/2014/main" id="{65565643-5680-E56C-EE06-3EBB1798A425}"/>
              </a:ext>
            </a:extLst>
          </p:cNvPr>
          <p:cNvSpPr>
            <a:spLocks noGrp="1"/>
          </p:cNvSpPr>
          <p:nvPr>
            <p:ph type="dt" sz="half" idx="10"/>
          </p:nvPr>
        </p:nvSpPr>
        <p:spPr/>
        <p:txBody>
          <a:bodyPr/>
          <a:lstStyle/>
          <a:p>
            <a:fld id="{4CABDE37-A3C8-4B9D-8836-9DACBCDB21F0}" type="datetime1">
              <a:rPr lang="en-US" smtClean="0"/>
              <a:t>5/28/2026</a:t>
            </a:fld>
            <a:endParaRPr lang="en-US"/>
          </a:p>
        </p:txBody>
      </p:sp>
      <p:sp>
        <p:nvSpPr>
          <p:cNvPr id="5" name="Footer Placeholder 4">
            <a:extLst>
              <a:ext uri="{FF2B5EF4-FFF2-40B4-BE49-F238E27FC236}">
                <a16:creationId xmlns:a16="http://schemas.microsoft.com/office/drawing/2014/main" id="{F3F0AD16-AC7B-70FC-8EDF-2C811997EA24}"/>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E7151628-BB51-16EB-EDF4-6F139B9C1B2C}"/>
              </a:ext>
            </a:extLst>
          </p:cNvPr>
          <p:cNvSpPr>
            <a:spLocks noGrp="1"/>
          </p:cNvSpPr>
          <p:nvPr>
            <p:ph type="sldNum" sz="quarter" idx="12"/>
          </p:nvPr>
        </p:nvSpPr>
        <p:spPr/>
        <p:txBody>
          <a:bodyPr/>
          <a:lstStyle/>
          <a:p>
            <a:fld id="{A18CFF8F-6617-428E-9314-96DE529C98C8}" type="slidenum">
              <a:rPr lang="en-US" smtClean="0"/>
              <a:t>6</a:t>
            </a:fld>
            <a:endParaRPr lang="en-US"/>
          </a:p>
        </p:txBody>
      </p:sp>
      <p:pic>
        <p:nvPicPr>
          <p:cNvPr id="38" name="Picture 37">
            <a:extLst>
              <a:ext uri="{FF2B5EF4-FFF2-40B4-BE49-F238E27FC236}">
                <a16:creationId xmlns:a16="http://schemas.microsoft.com/office/drawing/2014/main" id="{C6290D0C-3AF0-4B3F-64A3-29EE6CBBE7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101" y="3001188"/>
            <a:ext cx="3679002" cy="2664343"/>
          </a:xfrm>
          <a:prstGeom prst="rect">
            <a:avLst/>
          </a:prstGeom>
        </p:spPr>
      </p:pic>
      <p:sp>
        <p:nvSpPr>
          <p:cNvPr id="7" name="TextBox 6">
            <a:extLst>
              <a:ext uri="{FF2B5EF4-FFF2-40B4-BE49-F238E27FC236}">
                <a16:creationId xmlns:a16="http://schemas.microsoft.com/office/drawing/2014/main" id="{BE79F26A-DE24-E75E-E849-AD8B02C5FDD9}"/>
              </a:ext>
            </a:extLst>
          </p:cNvPr>
          <p:cNvSpPr txBox="1"/>
          <p:nvPr/>
        </p:nvSpPr>
        <p:spPr>
          <a:xfrm>
            <a:off x="8080536" y="1522283"/>
            <a:ext cx="3551274" cy="4876800"/>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mc:AlternateContent xmlns:mc="http://schemas.openxmlformats.org/markup-compatibility/2006">
        <mc:Choice xmlns:a14="http://schemas.microsoft.com/office/drawing/2010/main" Requires="a14">
          <p:sp>
            <p:nvSpPr>
              <p:cNvPr id="56" name="TextBox 55">
                <a:extLst>
                  <a:ext uri="{FF2B5EF4-FFF2-40B4-BE49-F238E27FC236}">
                    <a16:creationId xmlns:a16="http://schemas.microsoft.com/office/drawing/2014/main" id="{A90D6F76-7683-86EE-1E26-E8FFEF15E972}"/>
                  </a:ext>
                </a:extLst>
              </p:cNvPr>
              <p:cNvSpPr txBox="1"/>
              <p:nvPr/>
            </p:nvSpPr>
            <p:spPr>
              <a:xfrm>
                <a:off x="4551257" y="1601972"/>
                <a:ext cx="3451515" cy="4628706"/>
              </a:xfrm>
              <a:prstGeom prst="rect">
                <a:avLst/>
              </a:prstGeom>
              <a:solidFill>
                <a:srgbClr val="FFFFFF"/>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r>
                  <a:rPr lang="en-US" sz="2000" dirty="0"/>
                  <a:t>Observed intensity</a:t>
                </a:r>
              </a:p>
              <a:p>
                <a:endParaRPr lang="en-US" sz="2000" b="1" dirty="0"/>
              </a:p>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𝐼</m:t>
                      </m:r>
                      <m:r>
                        <a:rPr lang="en-US" sz="2800" b="0" i="1" smtClean="0">
                          <a:latin typeface="Cambria Math" panose="02040503050406030204" pitchFamily="18" charset="0"/>
                        </a:rPr>
                        <m:t>=</m:t>
                      </m:r>
                      <m:r>
                        <a:rPr lang="en-US" sz="2800" b="0" i="1" smtClean="0">
                          <a:latin typeface="Cambria Math" panose="02040503050406030204" pitchFamily="18" charset="0"/>
                        </a:rPr>
                        <m:t>𝐷𝑆</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𝑄</m:t>
                          </m:r>
                        </m:e>
                      </m:d>
                      <m:r>
                        <a:rPr lang="en-US" sz="2800" b="0" i="1" smtClean="0">
                          <a:latin typeface="Cambria Math" panose="02040503050406030204" pitchFamily="18" charset="0"/>
                        </a:rPr>
                        <m:t>+(1−</m:t>
                      </m:r>
                      <m:r>
                        <a:rPr lang="en-US" sz="2800" b="0" i="1" smtClean="0">
                          <a:latin typeface="Cambria Math" panose="02040503050406030204" pitchFamily="18" charset="0"/>
                        </a:rPr>
                        <m:t>𝐷</m:t>
                      </m:r>
                      <m:r>
                        <a:rPr lang="en-US" sz="2800" b="0" i="1" smtClean="0">
                          <a:latin typeface="Cambria Math" panose="02040503050406030204" pitchFamily="18" charset="0"/>
                        </a:rPr>
                        <m:t>)</m:t>
                      </m:r>
                    </m:oMath>
                  </m:oMathPara>
                </a14:m>
                <a:endParaRPr lang="en-US" sz="2800" dirty="0"/>
              </a:p>
              <a:p>
                <a:endParaRPr lang="en-US" sz="2000" b="1" dirty="0"/>
              </a:p>
              <a:p>
                <a:endParaRPr lang="en-US" sz="2000" b="1" dirty="0"/>
              </a:p>
              <a:p>
                <a:r>
                  <a:rPr lang="en-US" sz="1600" dirty="0"/>
                  <a:t>Debye-Waller </a:t>
                </a:r>
                <a14:m>
                  <m:oMath xmlns:m="http://schemas.openxmlformats.org/officeDocument/2006/math">
                    <m:r>
                      <a:rPr lang="en-US" sz="1600" b="0" i="1" smtClean="0">
                        <a:latin typeface="Cambria Math" panose="02040503050406030204" pitchFamily="18" charset="0"/>
                      </a:rPr>
                      <m:t>𝐷</m:t>
                    </m:r>
                    <m:r>
                      <a:rPr lang="en-US" sz="1600" b="0" i="1" smtClean="0">
                        <a:latin typeface="Cambria Math" panose="02040503050406030204" pitchFamily="18" charset="0"/>
                      </a:rPr>
                      <m:t>=</m:t>
                    </m:r>
                    <m:r>
                      <m:rPr>
                        <m:sty m:val="p"/>
                      </m:rPr>
                      <a:rPr lang="en-US" sz="1600" b="0" i="0" smtClean="0">
                        <a:latin typeface="Cambria Math" panose="02040503050406030204" pitchFamily="18" charset="0"/>
                      </a:rPr>
                      <m:t>exp</m:t>
                    </m:r>
                    <m:r>
                      <a:rPr lang="en-US" sz="1600" b="0" i="0" smtClean="0">
                        <a:latin typeface="Cambria Math" panose="02040503050406030204" pitchFamily="18" charset="0"/>
                      </a:rPr>
                      <m:t>(−</m:t>
                    </m:r>
                    <m:r>
                      <a:rPr lang="el-GR" sz="1600" b="0" i="1" smtClean="0">
                        <a:latin typeface="Cambria Math" panose="02040503050406030204" pitchFamily="18" charset="0"/>
                      </a:rPr>
                      <m:t>𝜂</m:t>
                    </m:r>
                    <m:r>
                      <a:rPr lang="el-CY" sz="1600" b="0" i="1" baseline="30000" smtClean="0">
                        <a:latin typeface="Cambria Math" panose="02040503050406030204" pitchFamily="18" charset="0"/>
                      </a:rPr>
                      <m:t>2</m:t>
                    </m:r>
                    <m:r>
                      <a:rPr lang="el-CY" sz="1600" b="0" i="1" smtClean="0">
                        <a:latin typeface="Cambria Math" panose="02040503050406030204" pitchFamily="18" charset="0"/>
                      </a:rPr>
                      <m:t>)</m:t>
                    </m:r>
                  </m:oMath>
                </a14:m>
                <a:endParaRPr lang="en-US" sz="1600" dirty="0"/>
              </a:p>
              <a:p>
                <a:r>
                  <a:rPr lang="en-US" sz="1600" dirty="0"/>
                  <a:t>Lamb-Dicke parameter </a:t>
                </a:r>
                <a14:m>
                  <m:oMath xmlns:m="http://schemas.openxmlformats.org/officeDocument/2006/math">
                    <m:r>
                      <a:rPr lang="el-CY" sz="1600" b="0" i="1" smtClean="0">
                        <a:latin typeface="Cambria Math" panose="02040503050406030204" pitchFamily="18" charset="0"/>
                      </a:rPr>
                      <m:t>𝜂</m:t>
                    </m:r>
                    <m:r>
                      <a:rPr lang="el-CY" sz="1600" b="0" i="1" smtClean="0">
                        <a:latin typeface="Cambria Math" panose="02040503050406030204" pitchFamily="18" charset="0"/>
                      </a:rPr>
                      <m:t>=</m:t>
                    </m:r>
                    <m:r>
                      <a:rPr lang="en-US" sz="1600" b="0" i="1" smtClean="0">
                        <a:latin typeface="Cambria Math" panose="02040503050406030204" pitchFamily="18" charset="0"/>
                      </a:rPr>
                      <m:t>𝑄</m:t>
                    </m:r>
                    <m:r>
                      <m:rPr>
                        <m:sty m:val="p"/>
                      </m:rPr>
                      <a:rPr lang="el-GR" sz="1600" b="0" i="0" smtClean="0">
                        <a:latin typeface="Cambria Math" panose="02040503050406030204" pitchFamily="18" charset="0"/>
                      </a:rPr>
                      <m:t>Δ</m:t>
                    </m:r>
                    <m:r>
                      <m:rPr>
                        <m:sty m:val="p"/>
                      </m:rPr>
                      <a:rPr lang="en-US" sz="1600" b="0" i="0" smtClean="0">
                        <a:latin typeface="Cambria Math" panose="02040503050406030204" pitchFamily="18" charset="0"/>
                      </a:rPr>
                      <m:t>x</m:t>
                    </m:r>
                  </m:oMath>
                </a14:m>
                <a:endParaRPr lang="el-CY" sz="1600" dirty="0"/>
              </a:p>
              <a:p>
                <a:r>
                  <a:rPr lang="en-US" sz="1600" dirty="0"/>
                  <a:t>Momentum transfer </a:t>
                </a:r>
                <a14:m>
                  <m:oMath xmlns:m="http://schemas.openxmlformats.org/officeDocument/2006/math">
                    <m:r>
                      <a:rPr lang="en-US" sz="1600" b="0" i="1" smtClean="0">
                        <a:latin typeface="Cambria Math" panose="02040503050406030204" pitchFamily="18" charset="0"/>
                      </a:rPr>
                      <m:t>𝑄</m:t>
                    </m:r>
                    <m:r>
                      <a:rPr lang="en-US" sz="1600" b="0" i="1" smtClean="0">
                        <a:latin typeface="Cambria Math" panose="02040503050406030204" pitchFamily="18" charset="0"/>
                      </a:rPr>
                      <m:t>=|</m:t>
                    </m:r>
                    <m:r>
                      <a:rPr lang="en-US" sz="1600" b="1" i="1" smtClean="0">
                        <a:latin typeface="Cambria Math" panose="02040503050406030204" pitchFamily="18" charset="0"/>
                      </a:rPr>
                      <m:t>𝒌</m:t>
                    </m:r>
                    <m:r>
                      <m:rPr>
                        <m:sty m:val="p"/>
                      </m:rPr>
                      <a:rPr lang="en-US" sz="1600" b="0" i="0" baseline="-25000" smtClean="0">
                        <a:latin typeface="Cambria Math" panose="02040503050406030204" pitchFamily="18" charset="0"/>
                      </a:rPr>
                      <m:t>in</m:t>
                    </m:r>
                    <m:r>
                      <a:rPr lang="en-US" sz="1600" b="0" i="1" smtClean="0">
                        <a:latin typeface="Cambria Math" panose="02040503050406030204" pitchFamily="18" charset="0"/>
                      </a:rPr>
                      <m:t>−</m:t>
                    </m:r>
                    <m:r>
                      <a:rPr lang="en-US" sz="1600" b="1" i="1" smtClean="0">
                        <a:latin typeface="Cambria Math" panose="02040503050406030204" pitchFamily="18" charset="0"/>
                      </a:rPr>
                      <m:t>𝒌</m:t>
                    </m:r>
                    <m:r>
                      <m:rPr>
                        <m:sty m:val="p"/>
                      </m:rPr>
                      <a:rPr lang="en-US" sz="1600" b="0" i="0" baseline="-25000" smtClean="0">
                        <a:latin typeface="Cambria Math" panose="02040503050406030204" pitchFamily="18" charset="0"/>
                      </a:rPr>
                      <m:t>out</m:t>
                    </m:r>
                    <m:r>
                      <a:rPr lang="en-US" sz="1600" b="0" i="1" smtClean="0">
                        <a:latin typeface="Cambria Math" panose="02040503050406030204" pitchFamily="18" charset="0"/>
                      </a:rPr>
                      <m:t>|</m:t>
                    </m:r>
                  </m:oMath>
                </a14:m>
                <a:endParaRPr lang="en-US" sz="1600" dirty="0"/>
              </a:p>
              <a:p>
                <a:endParaRPr lang="en-US" sz="1600" dirty="0"/>
              </a:p>
              <a:p>
                <a:r>
                  <a:rPr lang="en-US" sz="1600" dirty="0"/>
                  <a:t>Structure factor</a:t>
                </a:r>
              </a:p>
              <a:p>
                <a:endParaRPr lang="en-US" sz="1600" b="1" dirty="0"/>
              </a:p>
              <a:p>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1" i="1" smtClean="0">
                          <a:latin typeface="Cambria Math" panose="02040503050406030204" pitchFamily="18" charset="0"/>
                        </a:rPr>
                        <m:t>𝑸</m:t>
                      </m:r>
                      <m:r>
                        <a:rPr lang="en-US" sz="2000" b="0" i="1" smtClean="0">
                          <a:latin typeface="Cambria Math" panose="02040503050406030204" pitchFamily="18" charset="0"/>
                        </a:rPr>
                        <m:t>)</m:t>
                      </m:r>
                      <m:r>
                        <a:rPr lang="en-US" sz="2000" i="1">
                          <a:latin typeface="Cambria Math" panose="02040503050406030204" pitchFamily="18" charset="0"/>
                        </a:rPr>
                        <m:t>=</m:t>
                      </m:r>
                      <m:sSup>
                        <m:sSupPr>
                          <m:ctrlPr>
                            <a:rPr lang="en-US" sz="2000" i="1" smtClean="0">
                              <a:latin typeface="Cambria Math" panose="02040503050406030204" pitchFamily="18" charset="0"/>
                            </a:rPr>
                          </m:ctrlPr>
                        </m:sSupPr>
                        <m:e>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𝑁</m:t>
                              </m:r>
                            </m:den>
                          </m:f>
                          <m:d>
                            <m:dPr>
                              <m:begChr m:val="|"/>
                              <m:endChr m:val="|"/>
                              <m:ctrlPr>
                                <a:rPr lang="en-US" sz="2000" i="1">
                                  <a:latin typeface="Cambria Math" panose="02040503050406030204" pitchFamily="18" charset="0"/>
                                </a:rPr>
                              </m:ctrlPr>
                            </m:dPr>
                            <m:e>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𝑁</m:t>
                                  </m:r>
                                </m:sup>
                                <m:e>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exp</m:t>
                                      </m:r>
                                    </m:fName>
                                    <m:e>
                                      <m:d>
                                        <m:dPr>
                                          <m:ctrlPr>
                                            <a:rPr lang="en-US" sz="2000" i="1">
                                              <a:latin typeface="Cambria Math" panose="02040503050406030204" pitchFamily="18" charset="0"/>
                                            </a:rPr>
                                          </m:ctrlPr>
                                        </m:dPr>
                                        <m:e>
                                          <m:r>
                                            <a:rPr lang="en-US" sz="2000" i="1">
                                              <a:latin typeface="Cambria Math" panose="02040503050406030204" pitchFamily="18" charset="0"/>
                                            </a:rPr>
                                            <m:t>𝑖</m:t>
                                          </m:r>
                                          <m:r>
                                            <a:rPr lang="en-US" sz="2000" b="1" i="1">
                                              <a:latin typeface="Cambria Math" panose="02040503050406030204" pitchFamily="18" charset="0"/>
                                            </a:rPr>
                                            <m:t>𝑸</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𝑹</m:t>
                                              </m:r>
                                            </m:e>
                                            <m:sub>
                                              <m:r>
                                                <a:rPr lang="en-US" sz="2000" i="1">
                                                  <a:latin typeface="Cambria Math" panose="02040503050406030204" pitchFamily="18" charset="0"/>
                                                  <a:ea typeface="Cambria Math" panose="02040503050406030204" pitchFamily="18" charset="0"/>
                                                </a:rPr>
                                                <m:t>𝑗</m:t>
                                              </m:r>
                                            </m:sub>
                                          </m:sSub>
                                        </m:e>
                                      </m:d>
                                    </m:e>
                                  </m:func>
                                </m:e>
                              </m:nary>
                            </m:e>
                          </m:d>
                        </m:e>
                        <m:sup>
                          <m:r>
                            <a:rPr lang="en-US" sz="2000" b="0" i="1" smtClean="0">
                              <a:latin typeface="Cambria Math" panose="02040503050406030204" pitchFamily="18" charset="0"/>
                            </a:rPr>
                            <m:t>2</m:t>
                          </m:r>
                        </m:sup>
                      </m:sSup>
                    </m:oMath>
                  </m:oMathPara>
                </a14:m>
                <a:endParaRPr lang="en-US" sz="1600" b="1" dirty="0"/>
              </a:p>
            </p:txBody>
          </p:sp>
        </mc:Choice>
        <mc:Fallback>
          <p:sp>
            <p:nvSpPr>
              <p:cNvPr id="56" name="TextBox 55">
                <a:extLst>
                  <a:ext uri="{FF2B5EF4-FFF2-40B4-BE49-F238E27FC236}">
                    <a16:creationId xmlns:a16="http://schemas.microsoft.com/office/drawing/2014/main" id="{A90D6F76-7683-86EE-1E26-E8FFEF15E972}"/>
                  </a:ext>
                </a:extLst>
              </p:cNvPr>
              <p:cNvSpPr txBox="1">
                <a:spLocks noRot="1" noChangeAspect="1" noMove="1" noResize="1" noEditPoints="1" noAdjustHandles="1" noChangeArrowheads="1" noChangeShapeType="1" noTextEdit="1"/>
              </p:cNvSpPr>
              <p:nvPr/>
            </p:nvSpPr>
            <p:spPr>
              <a:xfrm>
                <a:off x="4551257" y="1601972"/>
                <a:ext cx="3451515" cy="4628706"/>
              </a:xfrm>
              <a:prstGeom prst="rect">
                <a:avLst/>
              </a:prstGeom>
              <a:blipFill>
                <a:blip r:embed="rId5"/>
                <a:stretch>
                  <a:fillRect/>
                </a:stretch>
              </a:blipFill>
              <a:ln w="28575">
                <a:solidFill>
                  <a:schemeClr val="tx1"/>
                </a:solidFill>
              </a:ln>
              <a:effectLst>
                <a:outerShdw blurRad="50800" dist="38100" dir="2700000" algn="tl" rotWithShape="0">
                  <a:prstClr val="black">
                    <a:alpha val="40000"/>
                  </a:prstClr>
                </a:outerShdw>
              </a:effectLst>
            </p:spPr>
            <p:txBody>
              <a:bodyPr/>
              <a:lstStyle/>
              <a:p>
                <a:r>
                  <a:rPr lang="en-US">
                    <a:noFill/>
                  </a:rPr>
                  <a:t> </a:t>
                </a:r>
              </a:p>
            </p:txBody>
          </p:sp>
        </mc:Fallback>
      </mc:AlternateContent>
      <p:sp>
        <p:nvSpPr>
          <p:cNvPr id="42" name="Rectangle 41">
            <a:extLst>
              <a:ext uri="{FF2B5EF4-FFF2-40B4-BE49-F238E27FC236}">
                <a16:creationId xmlns:a16="http://schemas.microsoft.com/office/drawing/2014/main" id="{069A1F9E-EBD5-B437-2DE2-2A468B2F5E95}"/>
              </a:ext>
            </a:extLst>
          </p:cNvPr>
          <p:cNvSpPr/>
          <p:nvPr/>
        </p:nvSpPr>
        <p:spPr>
          <a:xfrm>
            <a:off x="5244541" y="2699526"/>
            <a:ext cx="1104244" cy="301662"/>
          </a:xfrm>
          <a:prstGeom prst="rect">
            <a:avLst/>
          </a:prstGeom>
          <a:solidFill>
            <a:srgbClr val="FFFFFF"/>
          </a:solidFill>
          <a:ln>
            <a:solidFill>
              <a:schemeClr val="tx2">
                <a:lumMod val="50000"/>
                <a:lumOff val="50000"/>
              </a:schemeClr>
            </a:solidFill>
          </a:ln>
        </p:spPr>
        <p:style>
          <a:lnRef idx="2">
            <a:schemeClr val="accent4"/>
          </a:lnRef>
          <a:fillRef idx="1">
            <a:schemeClr val="lt1"/>
          </a:fillRef>
          <a:effectRef idx="0">
            <a:schemeClr val="accent4"/>
          </a:effectRef>
          <a:fontRef idx="minor">
            <a:schemeClr val="dk1"/>
          </a:fontRef>
        </p:style>
        <p:txBody>
          <a:bodyPr rtlCol="0" anchor="b"/>
          <a:lstStyle/>
          <a:p>
            <a:pPr algn="ctr"/>
            <a:r>
              <a:rPr lang="en-US" sz="1600" b="1" dirty="0">
                <a:solidFill>
                  <a:schemeClr val="tx2">
                    <a:lumMod val="50000"/>
                    <a:lumOff val="50000"/>
                  </a:schemeClr>
                </a:solidFill>
              </a:rPr>
              <a:t>Elastic</a:t>
            </a:r>
          </a:p>
        </p:txBody>
      </p:sp>
      <p:sp>
        <p:nvSpPr>
          <p:cNvPr id="44" name="Rectangle 43">
            <a:extLst>
              <a:ext uri="{FF2B5EF4-FFF2-40B4-BE49-F238E27FC236}">
                <a16:creationId xmlns:a16="http://schemas.microsoft.com/office/drawing/2014/main" id="{BBB36D03-D211-8BD6-DFB7-245D7035FB6C}"/>
              </a:ext>
            </a:extLst>
          </p:cNvPr>
          <p:cNvSpPr/>
          <p:nvPr/>
        </p:nvSpPr>
        <p:spPr>
          <a:xfrm>
            <a:off x="6641371" y="2699526"/>
            <a:ext cx="1224716" cy="301662"/>
          </a:xfrm>
          <a:prstGeom prst="rect">
            <a:avLst/>
          </a:prstGeom>
          <a:solidFill>
            <a:srgbClr val="FFFFFF"/>
          </a:solid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600" b="1" dirty="0">
                <a:solidFill>
                  <a:srgbClr val="FF9999"/>
                </a:solidFill>
              </a:rPr>
              <a:t>Inelastic</a:t>
            </a:r>
          </a:p>
        </p:txBody>
      </p:sp>
      <p:sp>
        <p:nvSpPr>
          <p:cNvPr id="3" name="TextBox 2">
            <a:extLst>
              <a:ext uri="{FF2B5EF4-FFF2-40B4-BE49-F238E27FC236}">
                <a16:creationId xmlns:a16="http://schemas.microsoft.com/office/drawing/2014/main" id="{93F7D24D-B452-D20D-DA5D-58094F30FDF6}"/>
              </a:ext>
            </a:extLst>
          </p:cNvPr>
          <p:cNvSpPr txBox="1"/>
          <p:nvPr/>
        </p:nvSpPr>
        <p:spPr>
          <a:xfrm>
            <a:off x="4504791" y="1458769"/>
            <a:ext cx="3575745" cy="4876800"/>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61" name="TextBox 60">
            <a:extLst>
              <a:ext uri="{FF2B5EF4-FFF2-40B4-BE49-F238E27FC236}">
                <a16:creationId xmlns:a16="http://schemas.microsoft.com/office/drawing/2014/main" id="{870517DF-A83A-3B08-6774-9871A318AA23}"/>
              </a:ext>
            </a:extLst>
          </p:cNvPr>
          <p:cNvSpPr txBox="1"/>
          <p:nvPr/>
        </p:nvSpPr>
        <p:spPr>
          <a:xfrm>
            <a:off x="6641371" y="5627683"/>
            <a:ext cx="5181599" cy="707886"/>
          </a:xfrm>
          <a:prstGeom prst="rect">
            <a:avLst/>
          </a:prstGeom>
          <a:solidFill>
            <a:srgbClr val="FFFF99"/>
          </a:solidFill>
          <a:ln w="28575">
            <a:solidFill>
              <a:schemeClr val="tx1"/>
            </a:solidFill>
          </a:ln>
          <a:effectLst>
            <a:outerShdw blurRad="50800" dist="38100" dir="2700000" algn="tl" rotWithShape="0">
              <a:prstClr val="black">
                <a:alpha val="40000"/>
              </a:prstClr>
            </a:outerShdw>
          </a:effectLst>
        </p:spPr>
        <p:txBody>
          <a:bodyPr wrap="square">
            <a:spAutoFit/>
          </a:bodyPr>
          <a:lstStyle/>
          <a:p>
            <a:r>
              <a:rPr lang="en-US" sz="2000" dirty="0"/>
              <a:t>Does the lattice trap influence the amount of elastically vs inelastically scattered light?</a:t>
            </a:r>
          </a:p>
        </p:txBody>
      </p:sp>
    </p:spTree>
    <p:extLst>
      <p:ext uri="{BB962C8B-B14F-4D97-AF65-F5344CB8AC3E}">
        <p14:creationId xmlns:p14="http://schemas.microsoft.com/office/powerpoint/2010/main" val="63847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6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3B4FA-0521-564A-175F-CA4872E5336D}"/>
            </a:ext>
          </a:extLst>
        </p:cNvPr>
        <p:cNvGrpSpPr/>
        <p:nvPr/>
      </p:nvGrpSpPr>
      <p:grpSpPr>
        <a:xfrm>
          <a:off x="0" y="0"/>
          <a:ext cx="0" cy="0"/>
          <a:chOff x="0" y="0"/>
          <a:chExt cx="0" cy="0"/>
        </a:xfrm>
      </p:grpSpPr>
      <p:sp>
        <p:nvSpPr>
          <p:cNvPr id="57" name="Content Placeholder 11">
            <a:extLst>
              <a:ext uri="{FF2B5EF4-FFF2-40B4-BE49-F238E27FC236}">
                <a16:creationId xmlns:a16="http://schemas.microsoft.com/office/drawing/2014/main" id="{168E1541-1ED9-3752-8BE5-F39A2586A78C}"/>
              </a:ext>
            </a:extLst>
          </p:cNvPr>
          <p:cNvSpPr txBox="1">
            <a:spLocks/>
          </p:cNvSpPr>
          <p:nvPr/>
        </p:nvSpPr>
        <p:spPr>
          <a:xfrm>
            <a:off x="734432" y="1864756"/>
            <a:ext cx="2743200" cy="3920069"/>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600" b="1" dirty="0"/>
              <a:t>Harmonic oscillator picture</a:t>
            </a:r>
          </a:p>
          <a:p>
            <a:pPr marL="0" indent="0">
              <a:lnSpc>
                <a:spcPct val="100000"/>
              </a:lnSpc>
              <a:spcBef>
                <a:spcPts val="0"/>
              </a:spcBef>
              <a:buFont typeface="Arial" panose="020B0604020202020204" pitchFamily="34" charset="0"/>
              <a:buNone/>
            </a:pPr>
            <a:r>
              <a:rPr lang="en-US" sz="1600" dirty="0"/>
              <a:t>In a trap</a:t>
            </a:r>
          </a:p>
          <a:p>
            <a:pPr>
              <a:lnSpc>
                <a:spcPct val="100000"/>
              </a:lnSpc>
              <a:spcBef>
                <a:spcPts val="0"/>
              </a:spcBef>
            </a:pPr>
            <a:endParaRPr lang="en-US" sz="1600" dirty="0"/>
          </a:p>
        </p:txBody>
      </p:sp>
      <p:sp>
        <p:nvSpPr>
          <p:cNvPr id="59" name="Content Placeholder 11">
            <a:extLst>
              <a:ext uri="{FF2B5EF4-FFF2-40B4-BE49-F238E27FC236}">
                <a16:creationId xmlns:a16="http://schemas.microsoft.com/office/drawing/2014/main" id="{1EAF428E-3EC6-1320-D3B2-484EBDD12C7A}"/>
              </a:ext>
            </a:extLst>
          </p:cNvPr>
          <p:cNvSpPr txBox="1">
            <a:spLocks/>
          </p:cNvSpPr>
          <p:nvPr/>
        </p:nvSpPr>
        <p:spPr>
          <a:xfrm>
            <a:off x="3763691" y="1864756"/>
            <a:ext cx="2743200" cy="3920069"/>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600" b="1" dirty="0"/>
              <a:t>Coherent state picture</a:t>
            </a:r>
          </a:p>
          <a:p>
            <a:pPr marL="0" indent="0">
              <a:lnSpc>
                <a:spcPct val="100000"/>
              </a:lnSpc>
              <a:spcBef>
                <a:spcPts val="0"/>
              </a:spcBef>
              <a:buFont typeface="Arial" panose="020B0604020202020204" pitchFamily="34" charset="0"/>
              <a:buNone/>
            </a:pPr>
            <a:r>
              <a:rPr lang="en-US" sz="1600" dirty="0"/>
              <a:t>In free space</a:t>
            </a:r>
          </a:p>
          <a:p>
            <a:pPr>
              <a:lnSpc>
                <a:spcPct val="100000"/>
              </a:lnSpc>
              <a:spcBef>
                <a:spcPts val="0"/>
              </a:spcBef>
            </a:pPr>
            <a:endParaRPr lang="en-US" sz="1600" dirty="0"/>
          </a:p>
        </p:txBody>
      </p:sp>
      <p:pic>
        <p:nvPicPr>
          <p:cNvPr id="34" name="Picture 33">
            <a:extLst>
              <a:ext uri="{FF2B5EF4-FFF2-40B4-BE49-F238E27FC236}">
                <a16:creationId xmlns:a16="http://schemas.microsoft.com/office/drawing/2014/main" id="{CEB0AF85-9E38-B003-2963-3A52D3186A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606" y="2777227"/>
            <a:ext cx="2393011" cy="2505353"/>
          </a:xfrm>
          <a:prstGeom prst="rect">
            <a:avLst/>
          </a:prstGeom>
        </p:spPr>
      </p:pic>
      <p:pic>
        <p:nvPicPr>
          <p:cNvPr id="18" name="Picture 17">
            <a:extLst>
              <a:ext uri="{FF2B5EF4-FFF2-40B4-BE49-F238E27FC236}">
                <a16:creationId xmlns:a16="http://schemas.microsoft.com/office/drawing/2014/main" id="{63EE03C3-9183-5D30-6CDA-EF854F1D9203}"/>
              </a:ext>
            </a:extLst>
          </p:cNvPr>
          <p:cNvPicPr>
            <a:picLocks noChangeAspect="1"/>
          </p:cNvPicPr>
          <p:nvPr/>
        </p:nvPicPr>
        <p:blipFill>
          <a:blip r:embed="rId4">
            <a:extLst>
              <a:ext uri="{28A0092B-C50C-407E-A947-70E740481C1C}">
                <a14:useLocalDpi xmlns:a14="http://schemas.microsoft.com/office/drawing/2010/main" val="0"/>
              </a:ext>
            </a:extLst>
          </a:blip>
          <a:srcRect l="68001" b="17797"/>
          <a:stretch>
            <a:fillRect/>
          </a:stretch>
        </p:blipFill>
        <p:spPr>
          <a:xfrm>
            <a:off x="4090202" y="2456850"/>
            <a:ext cx="2090177" cy="2996016"/>
          </a:xfrm>
          <a:prstGeom prst="rect">
            <a:avLst/>
          </a:prstGeom>
        </p:spPr>
      </p:pic>
      <p:sp>
        <p:nvSpPr>
          <p:cNvPr id="9" name="TextBox 8">
            <a:extLst>
              <a:ext uri="{FF2B5EF4-FFF2-40B4-BE49-F238E27FC236}">
                <a16:creationId xmlns:a16="http://schemas.microsoft.com/office/drawing/2014/main" id="{D30EEA35-92D2-F223-4952-F03850F235E9}"/>
              </a:ext>
            </a:extLst>
          </p:cNvPr>
          <p:cNvSpPr txBox="1"/>
          <p:nvPr/>
        </p:nvSpPr>
        <p:spPr>
          <a:xfrm>
            <a:off x="3724477" y="1814720"/>
            <a:ext cx="2919161" cy="4073894"/>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2" name="Title 1">
            <a:extLst>
              <a:ext uri="{FF2B5EF4-FFF2-40B4-BE49-F238E27FC236}">
                <a16:creationId xmlns:a16="http://schemas.microsoft.com/office/drawing/2014/main" id="{E65657CF-1F40-0A17-8B0D-641A79BC55CB}"/>
              </a:ext>
            </a:extLst>
          </p:cNvPr>
          <p:cNvSpPr>
            <a:spLocks noGrp="1"/>
          </p:cNvSpPr>
          <p:nvPr>
            <p:ph type="title"/>
          </p:nvPr>
        </p:nvSpPr>
        <p:spPr/>
        <p:txBody>
          <a:bodyPr/>
          <a:lstStyle/>
          <a:p>
            <a:r>
              <a:rPr lang="en-US" dirty="0"/>
              <a:t>Trapped vs Free Space</a:t>
            </a:r>
          </a:p>
        </p:txBody>
      </p:sp>
      <p:sp>
        <p:nvSpPr>
          <p:cNvPr id="4" name="Date Placeholder 3">
            <a:extLst>
              <a:ext uri="{FF2B5EF4-FFF2-40B4-BE49-F238E27FC236}">
                <a16:creationId xmlns:a16="http://schemas.microsoft.com/office/drawing/2014/main" id="{CD08B4AD-5AC7-A39C-6B2D-FD417C301355}"/>
              </a:ext>
            </a:extLst>
          </p:cNvPr>
          <p:cNvSpPr>
            <a:spLocks noGrp="1"/>
          </p:cNvSpPr>
          <p:nvPr>
            <p:ph type="dt" sz="half" idx="10"/>
          </p:nvPr>
        </p:nvSpPr>
        <p:spPr/>
        <p:txBody>
          <a:bodyPr/>
          <a:lstStyle/>
          <a:p>
            <a:fld id="{4CABDE37-A3C8-4B9D-8836-9DACBCDB21F0}" type="datetime1">
              <a:rPr lang="en-US" smtClean="0"/>
              <a:t>5/28/2026</a:t>
            </a:fld>
            <a:endParaRPr lang="en-US"/>
          </a:p>
        </p:txBody>
      </p:sp>
      <p:sp>
        <p:nvSpPr>
          <p:cNvPr id="5" name="Footer Placeholder 4">
            <a:extLst>
              <a:ext uri="{FF2B5EF4-FFF2-40B4-BE49-F238E27FC236}">
                <a16:creationId xmlns:a16="http://schemas.microsoft.com/office/drawing/2014/main" id="{56647481-E326-6C9F-F402-E10ABEC758CA}"/>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57D47DD1-5441-453C-8015-CDE21246C622}"/>
              </a:ext>
            </a:extLst>
          </p:cNvPr>
          <p:cNvSpPr>
            <a:spLocks noGrp="1"/>
          </p:cNvSpPr>
          <p:nvPr>
            <p:ph type="sldNum" sz="quarter" idx="12"/>
          </p:nvPr>
        </p:nvSpPr>
        <p:spPr/>
        <p:txBody>
          <a:bodyPr/>
          <a:lstStyle/>
          <a:p>
            <a:fld id="{A18CFF8F-6617-428E-9314-96DE529C98C8}" type="slidenum">
              <a:rPr lang="en-US" smtClean="0"/>
              <a:t>7</a:t>
            </a:fld>
            <a:endParaRPr lang="en-US"/>
          </a:p>
        </p:txBody>
      </p:sp>
      <p:sp>
        <p:nvSpPr>
          <p:cNvPr id="60" name="TextBox 59">
            <a:extLst>
              <a:ext uri="{FF2B5EF4-FFF2-40B4-BE49-F238E27FC236}">
                <a16:creationId xmlns:a16="http://schemas.microsoft.com/office/drawing/2014/main" id="{8C092165-60CE-D3A4-ACA5-E0CA8F6D80B9}"/>
              </a:ext>
            </a:extLst>
          </p:cNvPr>
          <p:cNvSpPr txBox="1"/>
          <p:nvPr/>
        </p:nvSpPr>
        <p:spPr>
          <a:xfrm>
            <a:off x="6783881" y="1864756"/>
            <a:ext cx="4750257" cy="3920069"/>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r>
              <a:rPr lang="en-US" sz="1600" b="1" dirty="0">
                <a:latin typeface="Noto Sans" panose="020B0502040204020203" pitchFamily="34" charset="0"/>
              </a:rPr>
              <a:t>Data shows these pictures are equivalent</a:t>
            </a:r>
          </a:p>
          <a:p>
            <a:r>
              <a:rPr lang="en-US" sz="1400" dirty="0">
                <a:latin typeface="Noto Sans" panose="020B0502040204020203" pitchFamily="34" charset="0"/>
              </a:rPr>
              <a:t>Phys. Rev. Lett. 135, 043601</a:t>
            </a:r>
            <a:endParaRPr lang="en-US" sz="1400" dirty="0"/>
          </a:p>
          <a:p>
            <a:pPr marL="0" indent="0" algn="l">
              <a:lnSpc>
                <a:spcPct val="100000"/>
              </a:lnSpc>
              <a:spcBef>
                <a:spcPts val="0"/>
              </a:spcBef>
              <a:buFont typeface="Arial" panose="020B0604020202020204" pitchFamily="34" charset="0"/>
              <a:buNone/>
            </a:pPr>
            <a:endParaRPr lang="en-US" sz="1600" b="1" dirty="0"/>
          </a:p>
        </p:txBody>
      </p:sp>
      <p:pic>
        <p:nvPicPr>
          <p:cNvPr id="14" name="Picture 13">
            <a:extLst>
              <a:ext uri="{FF2B5EF4-FFF2-40B4-BE49-F238E27FC236}">
                <a16:creationId xmlns:a16="http://schemas.microsoft.com/office/drawing/2014/main" id="{A5B05721-E6B6-DC14-4F28-5DB417020B47}"/>
              </a:ext>
            </a:extLst>
          </p:cNvPr>
          <p:cNvPicPr>
            <a:picLocks noChangeAspect="1"/>
          </p:cNvPicPr>
          <p:nvPr/>
        </p:nvPicPr>
        <p:blipFill>
          <a:blip r:embed="rId4">
            <a:extLst>
              <a:ext uri="{28A0092B-C50C-407E-A947-70E740481C1C}">
                <a14:useLocalDpi xmlns:a14="http://schemas.microsoft.com/office/drawing/2010/main" val="0"/>
              </a:ext>
            </a:extLst>
          </a:blip>
          <a:srcRect r="36636"/>
          <a:stretch>
            <a:fillRect/>
          </a:stretch>
        </p:blipFill>
        <p:spPr>
          <a:xfrm>
            <a:off x="7524175" y="2554535"/>
            <a:ext cx="3350939" cy="2950735"/>
          </a:xfrm>
          <a:prstGeom prst="rect">
            <a:avLst/>
          </a:prstGeom>
        </p:spPr>
      </p:pic>
      <p:sp>
        <p:nvSpPr>
          <p:cNvPr id="7" name="TextBox 6">
            <a:extLst>
              <a:ext uri="{FF2B5EF4-FFF2-40B4-BE49-F238E27FC236}">
                <a16:creationId xmlns:a16="http://schemas.microsoft.com/office/drawing/2014/main" id="{1668A0DD-CF5E-5E5B-2548-2FD23698F454}"/>
              </a:ext>
            </a:extLst>
          </p:cNvPr>
          <p:cNvSpPr txBox="1"/>
          <p:nvPr/>
        </p:nvSpPr>
        <p:spPr>
          <a:xfrm>
            <a:off x="6726320" y="1690688"/>
            <a:ext cx="4929734" cy="4197926"/>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17" name="TextBox 16">
            <a:extLst>
              <a:ext uri="{FF2B5EF4-FFF2-40B4-BE49-F238E27FC236}">
                <a16:creationId xmlns:a16="http://schemas.microsoft.com/office/drawing/2014/main" id="{B7916981-FCBE-7D7D-9FC0-1B259269618A}"/>
              </a:ext>
            </a:extLst>
          </p:cNvPr>
          <p:cNvSpPr txBox="1"/>
          <p:nvPr/>
        </p:nvSpPr>
        <p:spPr>
          <a:xfrm>
            <a:off x="517618" y="1690688"/>
            <a:ext cx="11156763" cy="4190614"/>
          </a:xfrm>
          <a:prstGeom prst="rect">
            <a:avLst/>
          </a:prstGeom>
          <a:solidFill>
            <a:srgbClr val="FFFFFF">
              <a:alpha val="80000"/>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61" name="Content Placeholder 11">
            <a:extLst>
              <a:ext uri="{FF2B5EF4-FFF2-40B4-BE49-F238E27FC236}">
                <a16:creationId xmlns:a16="http://schemas.microsoft.com/office/drawing/2014/main" id="{B36A56AB-621F-98A0-8ED5-C02F2D6E1C5D}"/>
              </a:ext>
            </a:extLst>
          </p:cNvPr>
          <p:cNvSpPr txBox="1">
            <a:spLocks/>
          </p:cNvSpPr>
          <p:nvPr/>
        </p:nvSpPr>
        <p:spPr>
          <a:xfrm>
            <a:off x="8639079" y="5594560"/>
            <a:ext cx="3035302" cy="422120"/>
          </a:xfrm>
          <a:prstGeom prst="rect">
            <a:avLst/>
          </a:prstGeom>
          <a:solidFill>
            <a:srgbClr val="FFFF99"/>
          </a:solidFill>
          <a:ln w="28575">
            <a:solidFill>
              <a:schemeClr val="tx1"/>
            </a:solidFill>
          </a:ln>
          <a:effectLst>
            <a:outerShdw blurRad="50800" dist="38100" dir="2700000" algn="tl" rotWithShape="0">
              <a:prstClr val="black">
                <a:alpha val="40000"/>
              </a:prstClr>
            </a:outerShdw>
          </a:effectLst>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Moving on to atom pairs…</a:t>
            </a:r>
          </a:p>
        </p:txBody>
      </p:sp>
      <p:sp>
        <p:nvSpPr>
          <p:cNvPr id="19" name="TextBox 18">
            <a:extLst>
              <a:ext uri="{FF2B5EF4-FFF2-40B4-BE49-F238E27FC236}">
                <a16:creationId xmlns:a16="http://schemas.microsoft.com/office/drawing/2014/main" id="{6227AE10-2F5C-C44D-FD3A-FDF4FEA24543}"/>
              </a:ext>
            </a:extLst>
          </p:cNvPr>
          <p:cNvSpPr txBox="1"/>
          <p:nvPr/>
        </p:nvSpPr>
        <p:spPr>
          <a:xfrm>
            <a:off x="678267" y="1807408"/>
            <a:ext cx="2919161" cy="4073894"/>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12" name="Content Placeholder 11">
            <a:extLst>
              <a:ext uri="{FF2B5EF4-FFF2-40B4-BE49-F238E27FC236}">
                <a16:creationId xmlns:a16="http://schemas.microsoft.com/office/drawing/2014/main" id="{DA9D7400-3E84-15C9-AD42-FDFA767488E2}"/>
              </a:ext>
            </a:extLst>
          </p:cNvPr>
          <p:cNvSpPr txBox="1">
            <a:spLocks/>
          </p:cNvSpPr>
          <p:nvPr/>
        </p:nvSpPr>
        <p:spPr>
          <a:xfrm>
            <a:off x="2410691" y="2768372"/>
            <a:ext cx="2839329" cy="1882309"/>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lIns="91440" tIns="45720" rIns="91440" bIns="45720" numCol="1"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Mössbauer effect</a:t>
            </a:r>
          </a:p>
          <a:p>
            <a:pPr marL="0" indent="0">
              <a:buNone/>
            </a:pPr>
            <a:r>
              <a:rPr lang="en-US" sz="2000" dirty="0"/>
              <a:t>Sideband scattering</a:t>
            </a:r>
          </a:p>
          <a:p>
            <a:pPr marL="0" indent="0">
              <a:buNone/>
            </a:pPr>
            <a:r>
              <a:rPr lang="en-US" sz="2000" dirty="0"/>
              <a:t>Excitation of harmonic oscillators</a:t>
            </a:r>
          </a:p>
        </p:txBody>
      </p:sp>
      <p:sp>
        <p:nvSpPr>
          <p:cNvPr id="15" name="Content Placeholder 11">
            <a:extLst>
              <a:ext uri="{FF2B5EF4-FFF2-40B4-BE49-F238E27FC236}">
                <a16:creationId xmlns:a16="http://schemas.microsoft.com/office/drawing/2014/main" id="{F7A1595C-A40D-88A8-6AB8-34348DA1F634}"/>
              </a:ext>
            </a:extLst>
          </p:cNvPr>
          <p:cNvSpPr txBox="1">
            <a:spLocks/>
          </p:cNvSpPr>
          <p:nvPr/>
        </p:nvSpPr>
        <p:spPr>
          <a:xfrm>
            <a:off x="5965375" y="3502537"/>
            <a:ext cx="3350939" cy="566915"/>
          </a:xfrm>
          <a:prstGeom prst="rect">
            <a:avLst/>
          </a:prstGeom>
          <a:solidFill>
            <a:srgbClr val="FFFF99"/>
          </a:solidFill>
          <a:ln w="28575">
            <a:solidFill>
              <a:schemeClr val="tx1"/>
            </a:solidFill>
          </a:ln>
          <a:effectLst>
            <a:outerShdw blurRad="50800" dist="38100" dir="2700000" algn="tl" rotWithShape="0">
              <a:prstClr val="black">
                <a:alpha val="40000"/>
              </a:prstClr>
            </a:outerShdw>
          </a:effectLst>
        </p:spPr>
        <p:txBody>
          <a:bodyPr vert="horz" lIns="91440" tIns="45720" rIns="91440" bIns="45720" numCol="1"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dirty="0"/>
              <a:t>Partial entanglement</a:t>
            </a:r>
          </a:p>
        </p:txBody>
      </p:sp>
      <p:sp>
        <p:nvSpPr>
          <p:cNvPr id="16" name="Arrow: Right 15">
            <a:extLst>
              <a:ext uri="{FF2B5EF4-FFF2-40B4-BE49-F238E27FC236}">
                <a16:creationId xmlns:a16="http://schemas.microsoft.com/office/drawing/2014/main" id="{D40BB9FC-B15B-E8E9-CF67-E75358415514}"/>
              </a:ext>
            </a:extLst>
          </p:cNvPr>
          <p:cNvSpPr/>
          <p:nvPr/>
        </p:nvSpPr>
        <p:spPr>
          <a:xfrm>
            <a:off x="5084367" y="3577042"/>
            <a:ext cx="839512" cy="417904"/>
          </a:xfrm>
          <a:prstGeom prst="rightArrow">
            <a:avLst/>
          </a:prstGeom>
          <a:solidFill>
            <a:schemeClr val="bg1"/>
          </a:solidFill>
          <a:ln w="28575"/>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7781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P spid="17" grpId="0" animBg="1"/>
      <p:bldP spid="61" grpId="0" animBg="1"/>
      <p:bldP spid="19" grpId="0" animBg="1"/>
      <p:bldP spid="12" grpId="0" animBg="1"/>
      <p:bldP spid="15"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DD36F4BE-B823-EFAE-AE15-3C2107048B8A}"/>
              </a:ext>
            </a:extLst>
          </p:cNvPr>
          <p:cNvSpPr>
            <a:spLocks noGrp="1"/>
          </p:cNvSpPr>
          <p:nvPr>
            <p:ph sz="half" idx="2"/>
          </p:nvPr>
        </p:nvSpPr>
        <p:spPr>
          <a:solidFill>
            <a:schemeClr val="bg1"/>
          </a:solidFill>
          <a:ln w="28575">
            <a:solidFill>
              <a:schemeClr val="tx1"/>
            </a:solidFill>
          </a:ln>
          <a:effectLst>
            <a:outerShdw blurRad="50800" dist="38100" dir="2700000" algn="tl" rotWithShape="0">
              <a:prstClr val="black">
                <a:alpha val="40000"/>
              </a:prstClr>
            </a:outerShdw>
          </a:effectLst>
        </p:spPr>
        <p:txBody>
          <a:bodyPr/>
          <a:lstStyle/>
          <a:p>
            <a:r>
              <a:rPr lang="en-US" sz="2000" dirty="0"/>
              <a:t>Remove single atoms to a near-dark state with an RF pulse</a:t>
            </a:r>
          </a:p>
          <a:p>
            <a:endParaRPr lang="en-US" dirty="0"/>
          </a:p>
        </p:txBody>
      </p:sp>
      <p:pic>
        <p:nvPicPr>
          <p:cNvPr id="14" name="Picture 13">
            <a:extLst>
              <a:ext uri="{FF2B5EF4-FFF2-40B4-BE49-F238E27FC236}">
                <a16:creationId xmlns:a16="http://schemas.microsoft.com/office/drawing/2014/main" id="{B1D88DD0-7937-BDD8-F5E9-C5923787F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4854" y="3303604"/>
            <a:ext cx="3291413" cy="2377545"/>
          </a:xfrm>
          <a:prstGeom prst="rect">
            <a:avLst/>
          </a:prstGeom>
        </p:spPr>
      </p:pic>
      <p:grpSp>
        <p:nvGrpSpPr>
          <p:cNvPr id="42" name="Group 41">
            <a:extLst>
              <a:ext uri="{FF2B5EF4-FFF2-40B4-BE49-F238E27FC236}">
                <a16:creationId xmlns:a16="http://schemas.microsoft.com/office/drawing/2014/main" id="{02C8B469-6E4F-117C-93D7-71113705DD45}"/>
              </a:ext>
            </a:extLst>
          </p:cNvPr>
          <p:cNvGrpSpPr/>
          <p:nvPr/>
        </p:nvGrpSpPr>
        <p:grpSpPr>
          <a:xfrm>
            <a:off x="9563481" y="3540549"/>
            <a:ext cx="1908172" cy="1760691"/>
            <a:chOff x="3796665" y="3388149"/>
            <a:chExt cx="1908172" cy="1760691"/>
          </a:xfrm>
        </p:grpSpPr>
        <p:sp>
          <p:nvSpPr>
            <p:cNvPr id="43" name="TextBox 42">
              <a:extLst>
                <a:ext uri="{FF2B5EF4-FFF2-40B4-BE49-F238E27FC236}">
                  <a16:creationId xmlns:a16="http://schemas.microsoft.com/office/drawing/2014/main" id="{4CB46B94-9DE6-B91F-0820-DD4549932CD5}"/>
                </a:ext>
              </a:extLst>
            </p:cNvPr>
            <p:cNvSpPr txBox="1"/>
            <p:nvPr/>
          </p:nvSpPr>
          <p:spPr>
            <a:xfrm>
              <a:off x="4551042" y="3388149"/>
              <a:ext cx="1153795" cy="460745"/>
            </a:xfrm>
            <a:prstGeom prst="rect">
              <a:avLst/>
            </a:prstGeom>
            <a:no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1600" dirty="0"/>
                <a:t>Singlons</a:t>
              </a:r>
            </a:p>
          </p:txBody>
        </p:sp>
        <p:sp>
          <p:nvSpPr>
            <p:cNvPr id="44" name="TextBox 43">
              <a:extLst>
                <a:ext uri="{FF2B5EF4-FFF2-40B4-BE49-F238E27FC236}">
                  <a16:creationId xmlns:a16="http://schemas.microsoft.com/office/drawing/2014/main" id="{05FFDF7C-D16A-B356-A77D-D456973EE1C5}"/>
                </a:ext>
              </a:extLst>
            </p:cNvPr>
            <p:cNvSpPr txBox="1"/>
            <p:nvPr/>
          </p:nvSpPr>
          <p:spPr>
            <a:xfrm>
              <a:off x="4413858" y="4688095"/>
              <a:ext cx="1153795" cy="460745"/>
            </a:xfrm>
            <a:prstGeom prst="rect">
              <a:avLst/>
            </a:prstGeom>
            <a:no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1600" dirty="0"/>
                <a:t>Doublons</a:t>
              </a:r>
            </a:p>
          </p:txBody>
        </p:sp>
        <p:cxnSp>
          <p:nvCxnSpPr>
            <p:cNvPr id="45" name="Straight Arrow Connector 44">
              <a:extLst>
                <a:ext uri="{FF2B5EF4-FFF2-40B4-BE49-F238E27FC236}">
                  <a16:creationId xmlns:a16="http://schemas.microsoft.com/office/drawing/2014/main" id="{26031E61-65BF-37AB-1C1C-8141A1C57D33}"/>
                </a:ext>
              </a:extLst>
            </p:cNvPr>
            <p:cNvCxnSpPr>
              <a:cxnSpLocks/>
            </p:cNvCxnSpPr>
            <p:nvPr/>
          </p:nvCxnSpPr>
          <p:spPr>
            <a:xfrm flipH="1">
              <a:off x="4058093" y="3562773"/>
              <a:ext cx="555149" cy="1897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F748E600-EFF7-1EBD-5905-7168055372CF}"/>
                </a:ext>
              </a:extLst>
            </p:cNvPr>
            <p:cNvCxnSpPr>
              <a:cxnSpLocks/>
            </p:cNvCxnSpPr>
            <p:nvPr/>
          </p:nvCxnSpPr>
          <p:spPr>
            <a:xfrm flipH="1" flipV="1">
              <a:off x="3796665" y="4632960"/>
              <a:ext cx="675186" cy="2133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 name="Title 1">
            <a:extLst>
              <a:ext uri="{FF2B5EF4-FFF2-40B4-BE49-F238E27FC236}">
                <a16:creationId xmlns:a16="http://schemas.microsoft.com/office/drawing/2014/main" id="{496F35EE-8585-A552-0F56-A9AC6DA7CE23}"/>
              </a:ext>
            </a:extLst>
          </p:cNvPr>
          <p:cNvSpPr>
            <a:spLocks noGrp="1"/>
          </p:cNvSpPr>
          <p:nvPr>
            <p:ph type="title"/>
          </p:nvPr>
        </p:nvSpPr>
        <p:spPr/>
        <p:txBody>
          <a:bodyPr/>
          <a:lstStyle/>
          <a:p>
            <a:r>
              <a:rPr lang="en-US" dirty="0"/>
              <a:t>Making Pairs: Doublons in a Mott Insulator</a:t>
            </a:r>
          </a:p>
        </p:txBody>
      </p:sp>
      <p:sp>
        <p:nvSpPr>
          <p:cNvPr id="3" name="Content Placeholder 2">
            <a:extLst>
              <a:ext uri="{FF2B5EF4-FFF2-40B4-BE49-F238E27FC236}">
                <a16:creationId xmlns:a16="http://schemas.microsoft.com/office/drawing/2014/main" id="{455C1E21-ACD0-5E7A-425E-B49C9F0CCFF8}"/>
              </a:ext>
            </a:extLst>
          </p:cNvPr>
          <p:cNvSpPr>
            <a:spLocks noGrp="1"/>
          </p:cNvSpPr>
          <p:nvPr>
            <p:ph sz="half" idx="1"/>
          </p:nvPr>
        </p:nvSpPr>
        <p:spPr>
          <a:solidFill>
            <a:schemeClr val="bg1"/>
          </a:solidFill>
          <a:ln w="28575">
            <a:solidFill>
              <a:schemeClr val="tx1"/>
            </a:solidFill>
          </a:ln>
          <a:effectLst>
            <a:outerShdw blurRad="50800" dist="38100" dir="2700000" algn="tl" rotWithShape="0">
              <a:prstClr val="black">
                <a:alpha val="40000"/>
              </a:prstClr>
            </a:outerShdw>
          </a:effectLst>
        </p:spPr>
        <p:txBody>
          <a:bodyPr>
            <a:normAutofit/>
          </a:bodyPr>
          <a:lstStyle/>
          <a:p>
            <a:r>
              <a:rPr lang="en-US" sz="2000" dirty="0"/>
              <a:t>Mott insulator with a core of doubly occupied sites, or “doublons”</a:t>
            </a:r>
          </a:p>
          <a:p>
            <a:r>
              <a:rPr lang="en-US" sz="2000" dirty="0"/>
              <a:t>Closely spaced pairs: </a:t>
            </a:r>
            <a:br>
              <a:rPr lang="en-US" sz="2000" dirty="0"/>
            </a:br>
            <a:r>
              <a:rPr lang="en-US" sz="2000" dirty="0"/>
              <a:t>oscillator length 100 nm ~ </a:t>
            </a:r>
            <a:r>
              <a:rPr lang="el-GR" sz="2000" dirty="0"/>
              <a:t>λ</a:t>
            </a:r>
            <a:r>
              <a:rPr lang="en-US" sz="2000" dirty="0"/>
              <a:t>/2</a:t>
            </a:r>
            <a:r>
              <a:rPr lang="el-GR" sz="2000" dirty="0"/>
              <a:t>π</a:t>
            </a:r>
            <a:endParaRPr lang="en-US" sz="2000" dirty="0"/>
          </a:p>
          <a:p>
            <a:endParaRPr lang="en-US" sz="2000" dirty="0"/>
          </a:p>
        </p:txBody>
      </p:sp>
      <p:sp>
        <p:nvSpPr>
          <p:cNvPr id="4" name="Date Placeholder 3">
            <a:extLst>
              <a:ext uri="{FF2B5EF4-FFF2-40B4-BE49-F238E27FC236}">
                <a16:creationId xmlns:a16="http://schemas.microsoft.com/office/drawing/2014/main" id="{6799FA72-2829-65F7-A13E-243D8342DFA6}"/>
              </a:ext>
            </a:extLst>
          </p:cNvPr>
          <p:cNvSpPr>
            <a:spLocks noGrp="1"/>
          </p:cNvSpPr>
          <p:nvPr>
            <p:ph type="dt" sz="half" idx="10"/>
          </p:nvPr>
        </p:nvSpPr>
        <p:spPr/>
        <p:txBody>
          <a:bodyPr/>
          <a:lstStyle/>
          <a:p>
            <a:fld id="{8C64C45F-07F1-4B0C-AEA1-B5BF383FC892}" type="datetime1">
              <a:rPr lang="en-US" smtClean="0"/>
              <a:t>5/28/2026</a:t>
            </a:fld>
            <a:endParaRPr lang="en-US"/>
          </a:p>
        </p:txBody>
      </p:sp>
      <p:sp>
        <p:nvSpPr>
          <p:cNvPr id="5" name="Footer Placeholder 4">
            <a:extLst>
              <a:ext uri="{FF2B5EF4-FFF2-40B4-BE49-F238E27FC236}">
                <a16:creationId xmlns:a16="http://schemas.microsoft.com/office/drawing/2014/main" id="{D57C9923-684A-A860-65AD-493F85C6AE37}"/>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CA9EF424-4BC6-5D6E-A3C2-D10DDDFB97AD}"/>
              </a:ext>
            </a:extLst>
          </p:cNvPr>
          <p:cNvSpPr>
            <a:spLocks noGrp="1"/>
          </p:cNvSpPr>
          <p:nvPr>
            <p:ph type="sldNum" sz="quarter" idx="12"/>
          </p:nvPr>
        </p:nvSpPr>
        <p:spPr/>
        <p:txBody>
          <a:bodyPr/>
          <a:lstStyle/>
          <a:p>
            <a:fld id="{A18CFF8F-6617-428E-9314-96DE529C98C8}" type="slidenum">
              <a:rPr lang="en-US" smtClean="0"/>
              <a:t>8</a:t>
            </a:fld>
            <a:endParaRPr lang="en-US"/>
          </a:p>
        </p:txBody>
      </p:sp>
      <p:pic>
        <p:nvPicPr>
          <p:cNvPr id="12" name="Picture 11">
            <a:extLst>
              <a:ext uri="{FF2B5EF4-FFF2-40B4-BE49-F238E27FC236}">
                <a16:creationId xmlns:a16="http://schemas.microsoft.com/office/drawing/2014/main" id="{55AEA040-E013-9E1E-FCDE-64191396D4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5733" y="3303605"/>
            <a:ext cx="2919923" cy="2377545"/>
          </a:xfrm>
          <a:prstGeom prst="rect">
            <a:avLst/>
          </a:prstGeom>
        </p:spPr>
      </p:pic>
      <p:sp>
        <p:nvSpPr>
          <p:cNvPr id="15" name="TextBox 14">
            <a:extLst>
              <a:ext uri="{FF2B5EF4-FFF2-40B4-BE49-F238E27FC236}">
                <a16:creationId xmlns:a16="http://schemas.microsoft.com/office/drawing/2014/main" id="{616A8868-D3FA-66F0-2FB8-A5EA1BD03449}"/>
              </a:ext>
            </a:extLst>
          </p:cNvPr>
          <p:cNvSpPr txBox="1"/>
          <p:nvPr/>
        </p:nvSpPr>
        <p:spPr>
          <a:xfrm>
            <a:off x="6096000" y="1643690"/>
            <a:ext cx="5472223" cy="4629093"/>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grpSp>
        <p:nvGrpSpPr>
          <p:cNvPr id="54" name="Group 53">
            <a:extLst>
              <a:ext uri="{FF2B5EF4-FFF2-40B4-BE49-F238E27FC236}">
                <a16:creationId xmlns:a16="http://schemas.microsoft.com/office/drawing/2014/main" id="{9B3C71AF-9A88-65BB-9AE8-A6CDD0D3EE77}"/>
              </a:ext>
            </a:extLst>
          </p:cNvPr>
          <p:cNvGrpSpPr/>
          <p:nvPr/>
        </p:nvGrpSpPr>
        <p:grpSpPr>
          <a:xfrm>
            <a:off x="3937371" y="3540549"/>
            <a:ext cx="1908172" cy="1760691"/>
            <a:chOff x="3796665" y="3388149"/>
            <a:chExt cx="1908172" cy="1760691"/>
          </a:xfrm>
        </p:grpSpPr>
        <p:sp>
          <p:nvSpPr>
            <p:cNvPr id="55" name="TextBox 54">
              <a:extLst>
                <a:ext uri="{FF2B5EF4-FFF2-40B4-BE49-F238E27FC236}">
                  <a16:creationId xmlns:a16="http://schemas.microsoft.com/office/drawing/2014/main" id="{6228926F-68CC-B14B-2A6F-D2063195BC2C}"/>
                </a:ext>
              </a:extLst>
            </p:cNvPr>
            <p:cNvSpPr txBox="1"/>
            <p:nvPr/>
          </p:nvSpPr>
          <p:spPr>
            <a:xfrm>
              <a:off x="4551042" y="3388149"/>
              <a:ext cx="1153795" cy="460745"/>
            </a:xfrm>
            <a:prstGeom prst="rect">
              <a:avLst/>
            </a:prstGeom>
            <a:no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1600" dirty="0"/>
                <a:t>Singlons</a:t>
              </a:r>
            </a:p>
          </p:txBody>
        </p:sp>
        <p:sp>
          <p:nvSpPr>
            <p:cNvPr id="56" name="TextBox 55">
              <a:extLst>
                <a:ext uri="{FF2B5EF4-FFF2-40B4-BE49-F238E27FC236}">
                  <a16:creationId xmlns:a16="http://schemas.microsoft.com/office/drawing/2014/main" id="{C9640CDE-745A-F35F-7940-6960A6236017}"/>
                </a:ext>
              </a:extLst>
            </p:cNvPr>
            <p:cNvSpPr txBox="1"/>
            <p:nvPr/>
          </p:nvSpPr>
          <p:spPr>
            <a:xfrm>
              <a:off x="4413858" y="4688095"/>
              <a:ext cx="1153795" cy="460745"/>
            </a:xfrm>
            <a:prstGeom prst="rect">
              <a:avLst/>
            </a:prstGeom>
            <a:no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1600" dirty="0"/>
                <a:t>Doublons</a:t>
              </a:r>
            </a:p>
          </p:txBody>
        </p:sp>
        <p:cxnSp>
          <p:nvCxnSpPr>
            <p:cNvPr id="57" name="Straight Arrow Connector 56">
              <a:extLst>
                <a:ext uri="{FF2B5EF4-FFF2-40B4-BE49-F238E27FC236}">
                  <a16:creationId xmlns:a16="http://schemas.microsoft.com/office/drawing/2014/main" id="{223D45D8-250F-432D-9E29-FAECE0854F87}"/>
                </a:ext>
              </a:extLst>
            </p:cNvPr>
            <p:cNvCxnSpPr>
              <a:cxnSpLocks/>
            </p:cNvCxnSpPr>
            <p:nvPr/>
          </p:nvCxnSpPr>
          <p:spPr>
            <a:xfrm flipH="1">
              <a:off x="4058093" y="3562773"/>
              <a:ext cx="555149" cy="1897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7FD25391-7C15-7EE7-9538-97AC66FFAE66}"/>
                </a:ext>
              </a:extLst>
            </p:cNvPr>
            <p:cNvCxnSpPr>
              <a:cxnSpLocks/>
            </p:cNvCxnSpPr>
            <p:nvPr/>
          </p:nvCxnSpPr>
          <p:spPr>
            <a:xfrm flipH="1" flipV="1">
              <a:off x="3796665" y="4632960"/>
              <a:ext cx="675186" cy="2133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7443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159D9-97B1-CFBE-B0A7-75D5A4466B37}"/>
              </a:ext>
            </a:extLst>
          </p:cNvPr>
          <p:cNvSpPr>
            <a:spLocks noGrp="1"/>
          </p:cNvSpPr>
          <p:nvPr>
            <p:ph type="title"/>
          </p:nvPr>
        </p:nvSpPr>
        <p:spPr/>
        <p:txBody>
          <a:bodyPr/>
          <a:lstStyle/>
          <a:p>
            <a:r>
              <a:rPr lang="en-US" dirty="0"/>
              <a:t>Noninteracting: Dicke Superradiance</a:t>
            </a:r>
          </a:p>
        </p:txBody>
      </p:sp>
      <p:sp>
        <p:nvSpPr>
          <p:cNvPr id="3" name="Content Placeholder 2">
            <a:extLst>
              <a:ext uri="{FF2B5EF4-FFF2-40B4-BE49-F238E27FC236}">
                <a16:creationId xmlns:a16="http://schemas.microsoft.com/office/drawing/2014/main" id="{D5501525-BDF5-9841-055D-F94A5AD18567}"/>
              </a:ext>
            </a:extLst>
          </p:cNvPr>
          <p:cNvSpPr>
            <a:spLocks noGrp="1"/>
          </p:cNvSpPr>
          <p:nvPr>
            <p:ph sz="half" idx="1"/>
          </p:nvPr>
        </p:nvSpPr>
        <p:spPr>
          <a:solidFill>
            <a:schemeClr val="bg1"/>
          </a:solidFill>
          <a:ln w="28575">
            <a:solidFill>
              <a:schemeClr val="tx1"/>
            </a:solidFill>
          </a:ln>
          <a:effectLst>
            <a:outerShdw blurRad="50800" dist="38100" dir="2700000" algn="tl" rotWithShape="0">
              <a:prstClr val="black">
                <a:alpha val="40000"/>
              </a:prstClr>
            </a:outerShdw>
          </a:effectLst>
        </p:spPr>
        <p:txBody>
          <a:bodyPr>
            <a:normAutofit/>
          </a:bodyPr>
          <a:lstStyle/>
          <a:p>
            <a:r>
              <a:rPr lang="en-US" sz="2000" dirty="0"/>
              <a:t>Elastic scattering adds in </a:t>
            </a:r>
            <a:r>
              <a:rPr lang="en-US" sz="2000" b="1" dirty="0"/>
              <a:t>amplitude</a:t>
            </a:r>
            <a:r>
              <a:rPr lang="en-US" sz="2000" dirty="0"/>
              <a:t> </a:t>
            </a:r>
            <a:br>
              <a:rPr lang="en-US" sz="2000" dirty="0"/>
            </a:br>
            <a:r>
              <a:rPr lang="en-US" sz="2000" dirty="0">
                <a:sym typeface="Wingdings" panose="05000000000000000000" pitchFamily="2" charset="2"/>
              </a:rPr>
              <a:t> N-times enhanced</a:t>
            </a:r>
            <a:endParaRPr lang="en-US" sz="2000" dirty="0"/>
          </a:p>
          <a:p>
            <a:r>
              <a:rPr lang="en-US" sz="2000" dirty="0"/>
              <a:t>Inelastic scattering adds in </a:t>
            </a:r>
            <a:r>
              <a:rPr lang="en-US" sz="2000" b="1" dirty="0"/>
              <a:t>intensity</a:t>
            </a:r>
            <a:r>
              <a:rPr lang="en-US" sz="2000" dirty="0"/>
              <a:t> </a:t>
            </a:r>
            <a:br>
              <a:rPr lang="en-US" sz="2000" dirty="0"/>
            </a:br>
            <a:r>
              <a:rPr lang="en-US" sz="2000" dirty="0">
                <a:sym typeface="Wingdings" panose="05000000000000000000" pitchFamily="2" charset="2"/>
              </a:rPr>
              <a:t> No enhancement </a:t>
            </a:r>
            <a:endParaRPr lang="en-US" sz="2000" dirty="0"/>
          </a:p>
        </p:txBody>
      </p:sp>
      <p:sp>
        <p:nvSpPr>
          <p:cNvPr id="14" name="Content Placeholder 13">
            <a:extLst>
              <a:ext uri="{FF2B5EF4-FFF2-40B4-BE49-F238E27FC236}">
                <a16:creationId xmlns:a16="http://schemas.microsoft.com/office/drawing/2014/main" id="{EB3FBB25-B183-7866-5102-A7585AA5F80B}"/>
              </a:ext>
            </a:extLst>
          </p:cNvPr>
          <p:cNvSpPr>
            <a:spLocks noGrp="1"/>
          </p:cNvSpPr>
          <p:nvPr>
            <p:ph sz="half" idx="2"/>
          </p:nvPr>
        </p:nvSpPr>
        <p:spPr>
          <a:solidFill>
            <a:schemeClr val="bg1"/>
          </a:solidFill>
          <a:ln w="28575">
            <a:solidFill>
              <a:schemeClr val="tx1"/>
            </a:solidFill>
          </a:ln>
          <a:effectLst>
            <a:outerShdw blurRad="50800" dist="38100" dir="2700000" algn="tl" rotWithShape="0">
              <a:prstClr val="black">
                <a:alpha val="40000"/>
              </a:prstClr>
            </a:outerShdw>
          </a:effectLst>
        </p:spPr>
        <p:txBody>
          <a:bodyPr>
            <a:normAutofit/>
          </a:bodyPr>
          <a:lstStyle/>
          <a:p>
            <a:r>
              <a:rPr lang="en-US" sz="2000" dirty="0"/>
              <a:t>Structure factor for an ideal crystal is 0, so we can’t probe the coherent part that way</a:t>
            </a:r>
          </a:p>
          <a:p>
            <a:r>
              <a:rPr lang="en-US" sz="2000" dirty="0"/>
              <a:t>Solution: Add random holes</a:t>
            </a:r>
          </a:p>
        </p:txBody>
      </p:sp>
      <p:sp>
        <p:nvSpPr>
          <p:cNvPr id="4" name="Date Placeholder 3">
            <a:extLst>
              <a:ext uri="{FF2B5EF4-FFF2-40B4-BE49-F238E27FC236}">
                <a16:creationId xmlns:a16="http://schemas.microsoft.com/office/drawing/2014/main" id="{A71524A1-C95E-0082-09F2-7C8794DA9EEC}"/>
              </a:ext>
            </a:extLst>
          </p:cNvPr>
          <p:cNvSpPr>
            <a:spLocks noGrp="1"/>
          </p:cNvSpPr>
          <p:nvPr>
            <p:ph type="dt" sz="half" idx="10"/>
          </p:nvPr>
        </p:nvSpPr>
        <p:spPr/>
        <p:txBody>
          <a:bodyPr/>
          <a:lstStyle/>
          <a:p>
            <a:fld id="{85EDDD84-7411-4657-9048-E904991F6E19}" type="datetime1">
              <a:rPr lang="en-US" smtClean="0"/>
              <a:t>5/28/2026</a:t>
            </a:fld>
            <a:endParaRPr lang="en-US"/>
          </a:p>
        </p:txBody>
      </p:sp>
      <p:sp>
        <p:nvSpPr>
          <p:cNvPr id="5" name="Footer Placeholder 4">
            <a:extLst>
              <a:ext uri="{FF2B5EF4-FFF2-40B4-BE49-F238E27FC236}">
                <a16:creationId xmlns:a16="http://schemas.microsoft.com/office/drawing/2014/main" id="{3C03C74F-5666-F11B-3A6D-6B7464CC43F5}"/>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6AA18447-E9BA-34D5-6473-E72A0F8979C7}"/>
              </a:ext>
            </a:extLst>
          </p:cNvPr>
          <p:cNvSpPr>
            <a:spLocks noGrp="1"/>
          </p:cNvSpPr>
          <p:nvPr>
            <p:ph type="sldNum" sz="quarter" idx="12"/>
          </p:nvPr>
        </p:nvSpPr>
        <p:spPr/>
        <p:txBody>
          <a:bodyPr/>
          <a:lstStyle/>
          <a:p>
            <a:fld id="{A18CFF8F-6617-428E-9314-96DE529C98C8}" type="slidenum">
              <a:rPr lang="en-US" smtClean="0"/>
              <a:t>9</a:t>
            </a:fld>
            <a:endParaRPr lang="en-US"/>
          </a:p>
        </p:txBody>
      </p:sp>
      <p:pic>
        <p:nvPicPr>
          <p:cNvPr id="11" name="Picture 10">
            <a:extLst>
              <a:ext uri="{FF2B5EF4-FFF2-40B4-BE49-F238E27FC236}">
                <a16:creationId xmlns:a16="http://schemas.microsoft.com/office/drawing/2014/main" id="{DA43796C-D128-17F3-F08A-4479FE3D61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1396" y="3534765"/>
            <a:ext cx="4575208" cy="2493342"/>
          </a:xfrm>
          <a:prstGeom prst="rect">
            <a:avLst/>
          </a:prstGeom>
        </p:spPr>
      </p:pic>
      <p:pic>
        <p:nvPicPr>
          <p:cNvPr id="19" name="Picture 18">
            <a:extLst>
              <a:ext uri="{FF2B5EF4-FFF2-40B4-BE49-F238E27FC236}">
                <a16:creationId xmlns:a16="http://schemas.microsoft.com/office/drawing/2014/main" id="{469BC7EF-9FA5-6983-FA8F-46A5FB05005B}"/>
              </a:ext>
            </a:extLst>
          </p:cNvPr>
          <p:cNvPicPr>
            <a:picLocks noChangeAspect="1"/>
          </p:cNvPicPr>
          <p:nvPr/>
        </p:nvPicPr>
        <p:blipFill>
          <a:blip r:embed="rId4">
            <a:extLst>
              <a:ext uri="{28A0092B-C50C-407E-A947-70E740481C1C}">
                <a14:useLocalDpi xmlns:a14="http://schemas.microsoft.com/office/drawing/2010/main" val="0"/>
              </a:ext>
            </a:extLst>
          </a:blip>
          <a:srcRect t="50000"/>
          <a:stretch>
            <a:fillRect/>
          </a:stretch>
        </p:blipFill>
        <p:spPr>
          <a:xfrm>
            <a:off x="7235404" y="2888579"/>
            <a:ext cx="3027174" cy="1292371"/>
          </a:xfrm>
          <a:prstGeom prst="rect">
            <a:avLst/>
          </a:prstGeom>
        </p:spPr>
      </p:pic>
      <p:pic>
        <p:nvPicPr>
          <p:cNvPr id="21" name="Picture 20">
            <a:extLst>
              <a:ext uri="{FF2B5EF4-FFF2-40B4-BE49-F238E27FC236}">
                <a16:creationId xmlns:a16="http://schemas.microsoft.com/office/drawing/2014/main" id="{C911CFDD-6F79-178B-FCA6-D93C732081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21020" y="4315887"/>
            <a:ext cx="3418418" cy="1738876"/>
          </a:xfrm>
          <a:prstGeom prst="rect">
            <a:avLst/>
          </a:prstGeom>
        </p:spPr>
      </p:pic>
      <p:sp>
        <p:nvSpPr>
          <p:cNvPr id="7" name="TextBox 6">
            <a:extLst>
              <a:ext uri="{FF2B5EF4-FFF2-40B4-BE49-F238E27FC236}">
                <a16:creationId xmlns:a16="http://schemas.microsoft.com/office/drawing/2014/main" id="{881283AA-FE37-A69D-DFB9-86925D036E3F}"/>
              </a:ext>
            </a:extLst>
          </p:cNvPr>
          <p:cNvSpPr txBox="1"/>
          <p:nvPr/>
        </p:nvSpPr>
        <p:spPr>
          <a:xfrm>
            <a:off x="6147261" y="1740103"/>
            <a:ext cx="5472223" cy="4522382"/>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Tree>
    <p:extLst>
      <p:ext uri="{BB962C8B-B14F-4D97-AF65-F5344CB8AC3E}">
        <p14:creationId xmlns:p14="http://schemas.microsoft.com/office/powerpoint/2010/main" val="159211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B9D612D6-5DFD-2B34-C68E-8B8E004D4C84}"/>
              </a:ext>
            </a:extLst>
          </p:cNvPr>
          <p:cNvSpPr txBox="1"/>
          <p:nvPr/>
        </p:nvSpPr>
        <p:spPr>
          <a:xfrm>
            <a:off x="565922" y="2052825"/>
            <a:ext cx="5592725" cy="1787099"/>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1600" dirty="0"/>
              <a:t>Doublon-hole</a:t>
            </a:r>
          </a:p>
          <a:p>
            <a:pPr marL="0" indent="0" algn="l">
              <a:lnSpc>
                <a:spcPct val="100000"/>
              </a:lnSpc>
              <a:spcBef>
                <a:spcPts val="0"/>
              </a:spcBef>
              <a:buFont typeface="Arial" panose="020B0604020202020204" pitchFamily="34" charset="0"/>
              <a:buNone/>
            </a:pPr>
            <a:r>
              <a:rPr lang="en-US" sz="1600" dirty="0"/>
              <a:t>preparation</a:t>
            </a:r>
          </a:p>
        </p:txBody>
      </p:sp>
      <p:sp>
        <p:nvSpPr>
          <p:cNvPr id="25" name="TextBox 24">
            <a:extLst>
              <a:ext uri="{FF2B5EF4-FFF2-40B4-BE49-F238E27FC236}">
                <a16:creationId xmlns:a16="http://schemas.microsoft.com/office/drawing/2014/main" id="{8713756B-1F5A-804D-0A2E-268E052865DC}"/>
              </a:ext>
            </a:extLst>
          </p:cNvPr>
          <p:cNvSpPr txBox="1"/>
          <p:nvPr/>
        </p:nvSpPr>
        <p:spPr>
          <a:xfrm>
            <a:off x="557062" y="4063174"/>
            <a:ext cx="5601586" cy="1787099"/>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1600" dirty="0"/>
              <a:t>Singlon-hole</a:t>
            </a:r>
          </a:p>
          <a:p>
            <a:pPr marL="0" indent="0" algn="l">
              <a:lnSpc>
                <a:spcPct val="100000"/>
              </a:lnSpc>
              <a:spcBef>
                <a:spcPts val="0"/>
              </a:spcBef>
              <a:buFont typeface="Arial" panose="020B0604020202020204" pitchFamily="34" charset="0"/>
              <a:buNone/>
            </a:pPr>
            <a:r>
              <a:rPr lang="en-US" sz="1600" dirty="0"/>
              <a:t>preparation</a:t>
            </a:r>
          </a:p>
        </p:txBody>
      </p:sp>
      <p:sp>
        <p:nvSpPr>
          <p:cNvPr id="2" name="Title 1">
            <a:extLst>
              <a:ext uri="{FF2B5EF4-FFF2-40B4-BE49-F238E27FC236}">
                <a16:creationId xmlns:a16="http://schemas.microsoft.com/office/drawing/2014/main" id="{5323823E-3D6F-6BE1-A142-A60BB5C38580}"/>
              </a:ext>
            </a:extLst>
          </p:cNvPr>
          <p:cNvSpPr>
            <a:spLocks noGrp="1"/>
          </p:cNvSpPr>
          <p:nvPr>
            <p:ph type="title"/>
          </p:nvPr>
        </p:nvSpPr>
        <p:spPr/>
        <p:txBody>
          <a:bodyPr/>
          <a:lstStyle/>
          <a:p>
            <a:r>
              <a:rPr lang="en-US" dirty="0"/>
              <a:t>Superradiance for Doublons</a:t>
            </a:r>
          </a:p>
        </p:txBody>
      </p:sp>
      <p:sp>
        <p:nvSpPr>
          <p:cNvPr id="4" name="Date Placeholder 3">
            <a:extLst>
              <a:ext uri="{FF2B5EF4-FFF2-40B4-BE49-F238E27FC236}">
                <a16:creationId xmlns:a16="http://schemas.microsoft.com/office/drawing/2014/main" id="{E6C713F1-A373-6AA3-5767-3F52FECDBBC7}"/>
              </a:ext>
            </a:extLst>
          </p:cNvPr>
          <p:cNvSpPr>
            <a:spLocks noGrp="1"/>
          </p:cNvSpPr>
          <p:nvPr>
            <p:ph type="dt" sz="half" idx="10"/>
          </p:nvPr>
        </p:nvSpPr>
        <p:spPr/>
        <p:txBody>
          <a:bodyPr/>
          <a:lstStyle/>
          <a:p>
            <a:fld id="{85EDDD84-7411-4657-9048-E904991F6E19}" type="datetime1">
              <a:rPr lang="en-US" smtClean="0"/>
              <a:t>5/28/2026</a:t>
            </a:fld>
            <a:endParaRPr lang="en-US"/>
          </a:p>
        </p:txBody>
      </p:sp>
      <p:sp>
        <p:nvSpPr>
          <p:cNvPr id="5" name="Footer Placeholder 4">
            <a:extLst>
              <a:ext uri="{FF2B5EF4-FFF2-40B4-BE49-F238E27FC236}">
                <a16:creationId xmlns:a16="http://schemas.microsoft.com/office/drawing/2014/main" id="{F0C19A58-1369-8B38-6582-645BCC53EE88}"/>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145179BA-1CF2-8629-1449-E62AF8AAC17A}"/>
              </a:ext>
            </a:extLst>
          </p:cNvPr>
          <p:cNvSpPr>
            <a:spLocks noGrp="1"/>
          </p:cNvSpPr>
          <p:nvPr>
            <p:ph type="sldNum" sz="quarter" idx="12"/>
          </p:nvPr>
        </p:nvSpPr>
        <p:spPr/>
        <p:txBody>
          <a:bodyPr/>
          <a:lstStyle/>
          <a:p>
            <a:fld id="{A18CFF8F-6617-428E-9314-96DE529C98C8}" type="slidenum">
              <a:rPr lang="en-US" smtClean="0"/>
              <a:t>10</a:t>
            </a:fld>
            <a:endParaRPr lang="en-US"/>
          </a:p>
        </p:txBody>
      </p:sp>
      <p:sp>
        <p:nvSpPr>
          <p:cNvPr id="12" name="Content Placeholder 2">
            <a:extLst>
              <a:ext uri="{FF2B5EF4-FFF2-40B4-BE49-F238E27FC236}">
                <a16:creationId xmlns:a16="http://schemas.microsoft.com/office/drawing/2014/main" id="{1460D267-FB44-E63A-2369-D3A66A911E03}"/>
              </a:ext>
            </a:extLst>
          </p:cNvPr>
          <p:cNvSpPr txBox="1">
            <a:spLocks/>
          </p:cNvSpPr>
          <p:nvPr/>
        </p:nvSpPr>
        <p:spPr>
          <a:xfrm>
            <a:off x="6429154" y="1587795"/>
            <a:ext cx="5261344" cy="4768555"/>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Elastic part of illumination demonstrates superradiant enhancement</a:t>
            </a:r>
            <a:endParaRPr lang="en-US" sz="2400" b="1" dirty="0"/>
          </a:p>
        </p:txBody>
      </p:sp>
      <p:pic>
        <p:nvPicPr>
          <p:cNvPr id="17" name="Picture 16">
            <a:extLst>
              <a:ext uri="{FF2B5EF4-FFF2-40B4-BE49-F238E27FC236}">
                <a16:creationId xmlns:a16="http://schemas.microsoft.com/office/drawing/2014/main" id="{CA963A41-B761-8B33-3E40-990C7B99E834}"/>
              </a:ext>
            </a:extLst>
          </p:cNvPr>
          <p:cNvPicPr>
            <a:picLocks noChangeAspect="1"/>
          </p:cNvPicPr>
          <p:nvPr/>
        </p:nvPicPr>
        <p:blipFill>
          <a:blip r:embed="rId2">
            <a:extLst>
              <a:ext uri="{28A0092B-C50C-407E-A947-70E740481C1C}">
                <a14:useLocalDpi xmlns:a14="http://schemas.microsoft.com/office/drawing/2010/main" val="0"/>
              </a:ext>
            </a:extLst>
          </a:blip>
          <a:srcRect t="50000"/>
          <a:stretch>
            <a:fillRect/>
          </a:stretch>
        </p:blipFill>
        <p:spPr>
          <a:xfrm>
            <a:off x="1868410" y="2124795"/>
            <a:ext cx="3685099" cy="1573254"/>
          </a:xfrm>
          <a:prstGeom prst="rect">
            <a:avLst/>
          </a:prstGeom>
        </p:spPr>
      </p:pic>
      <p:pic>
        <p:nvPicPr>
          <p:cNvPr id="19" name="Picture 18">
            <a:extLst>
              <a:ext uri="{FF2B5EF4-FFF2-40B4-BE49-F238E27FC236}">
                <a16:creationId xmlns:a16="http://schemas.microsoft.com/office/drawing/2014/main" id="{3B2D1D1F-794A-60C1-6065-CCB54BEDEA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6205" y="4263021"/>
            <a:ext cx="3647304" cy="1426795"/>
          </a:xfrm>
          <a:prstGeom prst="rect">
            <a:avLst/>
          </a:prstGeom>
        </p:spPr>
      </p:pic>
      <p:pic>
        <p:nvPicPr>
          <p:cNvPr id="23" name="Content Placeholder 22">
            <a:extLst>
              <a:ext uri="{FF2B5EF4-FFF2-40B4-BE49-F238E27FC236}">
                <a16:creationId xmlns:a16="http://schemas.microsoft.com/office/drawing/2014/main" id="{7EAF7D47-D40E-96A9-AB78-8A456894FF6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7157833" y="2453287"/>
            <a:ext cx="3561590" cy="3647827"/>
          </a:xfrm>
          <a:prstGeom prst="rect">
            <a:avLst/>
          </a:prstGeom>
        </p:spPr>
      </p:pic>
      <p:sp>
        <p:nvSpPr>
          <p:cNvPr id="3" name="TextBox 2">
            <a:extLst>
              <a:ext uri="{FF2B5EF4-FFF2-40B4-BE49-F238E27FC236}">
                <a16:creationId xmlns:a16="http://schemas.microsoft.com/office/drawing/2014/main" id="{BB320DE1-D10D-655D-D518-1B7EA88583D8}"/>
              </a:ext>
            </a:extLst>
          </p:cNvPr>
          <p:cNvSpPr txBox="1"/>
          <p:nvPr/>
        </p:nvSpPr>
        <p:spPr>
          <a:xfrm>
            <a:off x="302691" y="4012019"/>
            <a:ext cx="6027226" cy="2089095"/>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7" name="TextBox 6">
            <a:extLst>
              <a:ext uri="{FF2B5EF4-FFF2-40B4-BE49-F238E27FC236}">
                <a16:creationId xmlns:a16="http://schemas.microsoft.com/office/drawing/2014/main" id="{6FB14589-52C3-3498-E768-42D13D9639FC}"/>
              </a:ext>
            </a:extLst>
          </p:cNvPr>
          <p:cNvSpPr txBox="1"/>
          <p:nvPr/>
        </p:nvSpPr>
        <p:spPr>
          <a:xfrm>
            <a:off x="6295727" y="1488372"/>
            <a:ext cx="5472223" cy="4967399"/>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8" name="Content Placeholder 11">
            <a:extLst>
              <a:ext uri="{FF2B5EF4-FFF2-40B4-BE49-F238E27FC236}">
                <a16:creationId xmlns:a16="http://schemas.microsoft.com/office/drawing/2014/main" id="{11E413D4-539A-4CBC-8D1E-22BC51010566}"/>
              </a:ext>
            </a:extLst>
          </p:cNvPr>
          <p:cNvSpPr txBox="1">
            <a:spLocks/>
          </p:cNvSpPr>
          <p:nvPr/>
        </p:nvSpPr>
        <p:spPr>
          <a:xfrm>
            <a:off x="7810637" y="5850272"/>
            <a:ext cx="3957314" cy="546715"/>
          </a:xfrm>
          <a:prstGeom prst="rect">
            <a:avLst/>
          </a:prstGeom>
          <a:solidFill>
            <a:srgbClr val="FFFF99"/>
          </a:solidFill>
          <a:ln w="28575">
            <a:solidFill>
              <a:schemeClr val="tx1"/>
            </a:solidFill>
          </a:ln>
          <a:effectLst>
            <a:outerShdw blurRad="50800" dist="38100" dir="2700000" algn="tl" rotWithShape="0">
              <a:prstClr val="black">
                <a:alpha val="40000"/>
              </a:prstClr>
            </a:outerShdw>
          </a:effectLst>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What about the inelastic part?</a:t>
            </a:r>
          </a:p>
        </p:txBody>
      </p:sp>
    </p:spTree>
    <p:extLst>
      <p:ext uri="{BB962C8B-B14F-4D97-AF65-F5344CB8AC3E}">
        <p14:creationId xmlns:p14="http://schemas.microsoft.com/office/powerpoint/2010/main" val="106882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F2166D44-62F4-9FCD-BFD0-447717CF4344}"/>
              </a:ext>
            </a:extLst>
          </p:cNvPr>
          <p:cNvSpPr txBox="1"/>
          <p:nvPr/>
        </p:nvSpPr>
        <p:spPr>
          <a:xfrm>
            <a:off x="4038600" y="1587795"/>
            <a:ext cx="3068347" cy="4556753"/>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2000" dirty="0"/>
              <a:t>Cut along x = 0</a:t>
            </a:r>
          </a:p>
        </p:txBody>
      </p:sp>
      <p:sp>
        <p:nvSpPr>
          <p:cNvPr id="19" name="TextBox 18">
            <a:extLst>
              <a:ext uri="{FF2B5EF4-FFF2-40B4-BE49-F238E27FC236}">
                <a16:creationId xmlns:a16="http://schemas.microsoft.com/office/drawing/2014/main" id="{20CC1AC0-0319-FFFF-B6CC-F35EF730C4BE}"/>
              </a:ext>
            </a:extLst>
          </p:cNvPr>
          <p:cNvSpPr txBox="1"/>
          <p:nvPr/>
        </p:nvSpPr>
        <p:spPr>
          <a:xfrm>
            <a:off x="510364" y="1587795"/>
            <a:ext cx="3306733" cy="4556753"/>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2000" dirty="0"/>
              <a:t>Spatial variation of the dipole-dipole interaction</a:t>
            </a:r>
          </a:p>
        </p:txBody>
      </p:sp>
      <p:sp>
        <p:nvSpPr>
          <p:cNvPr id="2" name="Title 1">
            <a:extLst>
              <a:ext uri="{FF2B5EF4-FFF2-40B4-BE49-F238E27FC236}">
                <a16:creationId xmlns:a16="http://schemas.microsoft.com/office/drawing/2014/main" id="{D4FCC85C-3314-E3A2-5094-318832E9CD56}"/>
              </a:ext>
            </a:extLst>
          </p:cNvPr>
          <p:cNvSpPr>
            <a:spLocks noGrp="1"/>
          </p:cNvSpPr>
          <p:nvPr>
            <p:ph type="title"/>
          </p:nvPr>
        </p:nvSpPr>
        <p:spPr/>
        <p:txBody>
          <a:bodyPr/>
          <a:lstStyle/>
          <a:p>
            <a:r>
              <a:rPr lang="en-US" dirty="0"/>
              <a:t>The Condon Region</a:t>
            </a:r>
          </a:p>
        </p:txBody>
      </p:sp>
      <p:sp>
        <p:nvSpPr>
          <p:cNvPr id="4" name="Date Placeholder 3">
            <a:extLst>
              <a:ext uri="{FF2B5EF4-FFF2-40B4-BE49-F238E27FC236}">
                <a16:creationId xmlns:a16="http://schemas.microsoft.com/office/drawing/2014/main" id="{93DC725F-5A76-13A8-28F9-E339325C9B9E}"/>
              </a:ext>
            </a:extLst>
          </p:cNvPr>
          <p:cNvSpPr>
            <a:spLocks noGrp="1"/>
          </p:cNvSpPr>
          <p:nvPr>
            <p:ph type="dt" sz="half" idx="10"/>
          </p:nvPr>
        </p:nvSpPr>
        <p:spPr/>
        <p:txBody>
          <a:bodyPr/>
          <a:lstStyle/>
          <a:p>
            <a:fld id="{85EDDD84-7411-4657-9048-E904991F6E19}" type="datetime1">
              <a:rPr lang="en-US" smtClean="0"/>
              <a:t>5/28/2026</a:t>
            </a:fld>
            <a:endParaRPr lang="en-US"/>
          </a:p>
        </p:txBody>
      </p:sp>
      <p:sp>
        <p:nvSpPr>
          <p:cNvPr id="5" name="Footer Placeholder 4">
            <a:extLst>
              <a:ext uri="{FF2B5EF4-FFF2-40B4-BE49-F238E27FC236}">
                <a16:creationId xmlns:a16="http://schemas.microsoft.com/office/drawing/2014/main" id="{D425159B-2D0F-AA5C-0E6B-32A8389A8D09}"/>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165A449E-E068-E36A-20A9-BEA5074C05A1}"/>
              </a:ext>
            </a:extLst>
          </p:cNvPr>
          <p:cNvSpPr>
            <a:spLocks noGrp="1"/>
          </p:cNvSpPr>
          <p:nvPr>
            <p:ph type="sldNum" sz="quarter" idx="12"/>
          </p:nvPr>
        </p:nvSpPr>
        <p:spPr/>
        <p:txBody>
          <a:bodyPr/>
          <a:lstStyle/>
          <a:p>
            <a:fld id="{A18CFF8F-6617-428E-9314-96DE529C98C8}" type="slidenum">
              <a:rPr lang="en-US" smtClean="0"/>
              <a:t>11</a:t>
            </a:fld>
            <a:endParaRPr lang="en-US"/>
          </a:p>
        </p:txBody>
      </p:sp>
      <p:sp>
        <p:nvSpPr>
          <p:cNvPr id="27" name="TextBox 26">
            <a:extLst>
              <a:ext uri="{FF2B5EF4-FFF2-40B4-BE49-F238E27FC236}">
                <a16:creationId xmlns:a16="http://schemas.microsoft.com/office/drawing/2014/main" id="{EB44ECD0-0213-3562-4E83-2CE9AE9567A5}"/>
              </a:ext>
            </a:extLst>
          </p:cNvPr>
          <p:cNvSpPr txBox="1"/>
          <p:nvPr/>
        </p:nvSpPr>
        <p:spPr>
          <a:xfrm>
            <a:off x="7328450" y="1587795"/>
            <a:ext cx="4462819" cy="4556753"/>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2000" dirty="0"/>
              <a:t>Spatial variation of scattering intensity</a:t>
            </a:r>
          </a:p>
        </p:txBody>
      </p:sp>
      <p:pic>
        <p:nvPicPr>
          <p:cNvPr id="15" name="Picture 14">
            <a:extLst>
              <a:ext uri="{FF2B5EF4-FFF2-40B4-BE49-F238E27FC236}">
                <a16:creationId xmlns:a16="http://schemas.microsoft.com/office/drawing/2014/main" id="{2DF1DBEE-8A5C-FF0E-002F-D35F84AE9FB7}"/>
              </a:ext>
            </a:extLst>
          </p:cNvPr>
          <p:cNvPicPr>
            <a:picLocks noChangeAspect="1"/>
          </p:cNvPicPr>
          <p:nvPr/>
        </p:nvPicPr>
        <p:blipFill>
          <a:blip r:embed="rId3"/>
          <a:stretch>
            <a:fillRect/>
          </a:stretch>
        </p:blipFill>
        <p:spPr>
          <a:xfrm>
            <a:off x="729528" y="4794046"/>
            <a:ext cx="2735320" cy="1325563"/>
          </a:xfrm>
          <a:prstGeom prst="rect">
            <a:avLst/>
          </a:prstGeom>
        </p:spPr>
      </p:pic>
      <p:pic>
        <p:nvPicPr>
          <p:cNvPr id="21" name="Picture 20">
            <a:extLst>
              <a:ext uri="{FF2B5EF4-FFF2-40B4-BE49-F238E27FC236}">
                <a16:creationId xmlns:a16="http://schemas.microsoft.com/office/drawing/2014/main" id="{B7276275-7998-EAE2-FD24-61670478B63D}"/>
              </a:ext>
            </a:extLst>
          </p:cNvPr>
          <p:cNvPicPr>
            <a:picLocks noChangeAspect="1"/>
          </p:cNvPicPr>
          <p:nvPr/>
        </p:nvPicPr>
        <p:blipFill>
          <a:blip r:embed="rId4"/>
          <a:stretch>
            <a:fillRect/>
          </a:stretch>
        </p:blipFill>
        <p:spPr>
          <a:xfrm>
            <a:off x="590778" y="2298302"/>
            <a:ext cx="3085812" cy="2491196"/>
          </a:xfrm>
          <a:prstGeom prst="rect">
            <a:avLst/>
          </a:prstGeom>
        </p:spPr>
      </p:pic>
      <p:grpSp>
        <p:nvGrpSpPr>
          <p:cNvPr id="10" name="Group 9">
            <a:extLst>
              <a:ext uri="{FF2B5EF4-FFF2-40B4-BE49-F238E27FC236}">
                <a16:creationId xmlns:a16="http://schemas.microsoft.com/office/drawing/2014/main" id="{0546C267-CB0C-B679-CCEF-2AE0DC7CEFC9}"/>
              </a:ext>
            </a:extLst>
          </p:cNvPr>
          <p:cNvGrpSpPr/>
          <p:nvPr/>
        </p:nvGrpSpPr>
        <p:grpSpPr>
          <a:xfrm>
            <a:off x="7486592" y="2298302"/>
            <a:ext cx="4114630" cy="3265530"/>
            <a:chOff x="7734574" y="2426206"/>
            <a:chExt cx="3880024" cy="3250150"/>
          </a:xfrm>
        </p:grpSpPr>
        <p:pic>
          <p:nvPicPr>
            <p:cNvPr id="13" name="Picture 12">
              <a:extLst>
                <a:ext uri="{FF2B5EF4-FFF2-40B4-BE49-F238E27FC236}">
                  <a16:creationId xmlns:a16="http://schemas.microsoft.com/office/drawing/2014/main" id="{0119EEC7-1226-4123-3847-C717D718B39F}"/>
                </a:ext>
              </a:extLst>
            </p:cNvPr>
            <p:cNvPicPr>
              <a:picLocks noChangeAspect="1"/>
            </p:cNvPicPr>
            <p:nvPr/>
          </p:nvPicPr>
          <p:blipFill>
            <a:blip r:embed="rId5"/>
            <a:stretch>
              <a:fillRect/>
            </a:stretch>
          </p:blipFill>
          <p:spPr>
            <a:xfrm>
              <a:off x="7734574" y="2426206"/>
              <a:ext cx="3880024" cy="3250150"/>
            </a:xfrm>
            <a:prstGeom prst="rect">
              <a:avLst/>
            </a:prstGeom>
          </p:spPr>
        </p:pic>
        <p:sp>
          <p:nvSpPr>
            <p:cNvPr id="14" name="TextBox 13">
              <a:extLst>
                <a:ext uri="{FF2B5EF4-FFF2-40B4-BE49-F238E27FC236}">
                  <a16:creationId xmlns:a16="http://schemas.microsoft.com/office/drawing/2014/main" id="{52FCD626-68F1-6D6F-99F6-82AA903CC83D}"/>
                </a:ext>
              </a:extLst>
            </p:cNvPr>
            <p:cNvSpPr txBox="1"/>
            <p:nvPr/>
          </p:nvSpPr>
          <p:spPr>
            <a:xfrm>
              <a:off x="9533339" y="4173281"/>
              <a:ext cx="969240" cy="643287"/>
            </a:xfrm>
            <a:prstGeom prst="rect">
              <a:avLst/>
            </a:prstGeom>
            <a:noFill/>
          </p:spPr>
          <p:txBody>
            <a:bodyPr wrap="none" rtlCol="0">
              <a:spAutoFit/>
            </a:bodyPr>
            <a:lstStyle/>
            <a:p>
              <a:r>
                <a:rPr lang="en-US" dirty="0">
                  <a:solidFill>
                    <a:schemeClr val="bg1"/>
                  </a:solidFill>
                </a:rPr>
                <a:t>Condon </a:t>
              </a:r>
            </a:p>
            <a:p>
              <a:r>
                <a:rPr lang="en-US" dirty="0">
                  <a:solidFill>
                    <a:schemeClr val="bg1"/>
                  </a:solidFill>
                </a:rPr>
                <a:t>region</a:t>
              </a:r>
            </a:p>
          </p:txBody>
        </p:sp>
        <p:cxnSp>
          <p:nvCxnSpPr>
            <p:cNvPr id="16" name="Straight Arrow Connector 15">
              <a:extLst>
                <a:ext uri="{FF2B5EF4-FFF2-40B4-BE49-F238E27FC236}">
                  <a16:creationId xmlns:a16="http://schemas.microsoft.com/office/drawing/2014/main" id="{8F5F914A-E2D6-7CBB-F749-E0D5A251FD99}"/>
                </a:ext>
              </a:extLst>
            </p:cNvPr>
            <p:cNvCxnSpPr>
              <a:cxnSpLocks/>
              <a:stCxn id="14" idx="1"/>
            </p:cNvCxnSpPr>
            <p:nvPr/>
          </p:nvCxnSpPr>
          <p:spPr>
            <a:xfrm flipH="1" flipV="1">
              <a:off x="9108558" y="4373526"/>
              <a:ext cx="424781" cy="121399"/>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pic>
        <p:nvPicPr>
          <p:cNvPr id="31" name="Picture 30">
            <a:extLst>
              <a:ext uri="{FF2B5EF4-FFF2-40B4-BE49-F238E27FC236}">
                <a16:creationId xmlns:a16="http://schemas.microsoft.com/office/drawing/2014/main" id="{120F70B5-949C-7522-4DF0-7778CA9F50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90465" y="2203118"/>
            <a:ext cx="2787303" cy="3429000"/>
          </a:xfrm>
          <a:prstGeom prst="rect">
            <a:avLst/>
          </a:prstGeom>
        </p:spPr>
      </p:pic>
      <p:sp>
        <p:nvSpPr>
          <p:cNvPr id="28" name="TextBox 27">
            <a:extLst>
              <a:ext uri="{FF2B5EF4-FFF2-40B4-BE49-F238E27FC236}">
                <a16:creationId xmlns:a16="http://schemas.microsoft.com/office/drawing/2014/main" id="{97288310-64E2-B00D-5A60-7342068B1BC8}"/>
              </a:ext>
            </a:extLst>
          </p:cNvPr>
          <p:cNvSpPr txBox="1"/>
          <p:nvPr/>
        </p:nvSpPr>
        <p:spPr>
          <a:xfrm>
            <a:off x="3975239" y="1403295"/>
            <a:ext cx="3229006" cy="4953055"/>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29" name="TextBox 28">
            <a:extLst>
              <a:ext uri="{FF2B5EF4-FFF2-40B4-BE49-F238E27FC236}">
                <a16:creationId xmlns:a16="http://schemas.microsoft.com/office/drawing/2014/main" id="{8C3901CA-5E57-FF33-E95A-A59719D54C8E}"/>
              </a:ext>
            </a:extLst>
          </p:cNvPr>
          <p:cNvSpPr txBox="1"/>
          <p:nvPr/>
        </p:nvSpPr>
        <p:spPr>
          <a:xfrm>
            <a:off x="7229599" y="1388951"/>
            <a:ext cx="4778104" cy="4967399"/>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12" name="Content Placeholder 11">
            <a:extLst>
              <a:ext uri="{FF2B5EF4-FFF2-40B4-BE49-F238E27FC236}">
                <a16:creationId xmlns:a16="http://schemas.microsoft.com/office/drawing/2014/main" id="{6C22E5C8-FC7C-0A56-0D0F-D83EAB195D45}"/>
              </a:ext>
            </a:extLst>
          </p:cNvPr>
          <p:cNvSpPr txBox="1">
            <a:spLocks/>
          </p:cNvSpPr>
          <p:nvPr/>
        </p:nvSpPr>
        <p:spPr>
          <a:xfrm>
            <a:off x="5381184" y="5318248"/>
            <a:ext cx="3673029" cy="905593"/>
          </a:xfrm>
          <a:prstGeom prst="rect">
            <a:avLst/>
          </a:prstGeom>
          <a:solidFill>
            <a:srgbClr val="FFFF99"/>
          </a:solidFill>
          <a:ln w="28575">
            <a:solidFill>
              <a:schemeClr val="tx1"/>
            </a:solidFill>
          </a:ln>
          <a:effectLst>
            <a:outerShdw blurRad="50800" dist="38100" dir="2700000" algn="tl" rotWithShape="0">
              <a:prstClr val="black">
                <a:alpha val="40000"/>
              </a:prstClr>
            </a:outerShdw>
          </a:effectLst>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Part of the wavefunction is always in resonance due to the dipole-dipole shift.</a:t>
            </a:r>
          </a:p>
        </p:txBody>
      </p:sp>
    </p:spTree>
    <p:extLst>
      <p:ext uri="{BB962C8B-B14F-4D97-AF65-F5344CB8AC3E}">
        <p14:creationId xmlns:p14="http://schemas.microsoft.com/office/powerpoint/2010/main" val="288098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65DCD9E-67C7-AA9D-4455-B8A68D23BF8F}"/>
              </a:ext>
            </a:extLst>
          </p:cNvPr>
          <p:cNvSpPr txBox="1"/>
          <p:nvPr/>
        </p:nvSpPr>
        <p:spPr>
          <a:xfrm>
            <a:off x="8851651" y="1711953"/>
            <a:ext cx="2875644" cy="4665662"/>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r>
              <a:rPr lang="en-US" sz="2000" dirty="0"/>
              <a:t>Radial average</a:t>
            </a:r>
          </a:p>
        </p:txBody>
      </p:sp>
      <p:pic>
        <p:nvPicPr>
          <p:cNvPr id="14" name="Picture 13">
            <a:extLst>
              <a:ext uri="{FF2B5EF4-FFF2-40B4-BE49-F238E27FC236}">
                <a16:creationId xmlns:a16="http://schemas.microsoft.com/office/drawing/2014/main" id="{41717294-88A3-DA90-46F6-840025601D0D}"/>
              </a:ext>
            </a:extLst>
          </p:cNvPr>
          <p:cNvPicPr>
            <a:picLocks noChangeAspect="1"/>
          </p:cNvPicPr>
          <p:nvPr/>
        </p:nvPicPr>
        <p:blipFill>
          <a:blip r:embed="rId2"/>
          <a:srcRect t="6977"/>
          <a:stretch>
            <a:fillRect/>
          </a:stretch>
        </p:blipFill>
        <p:spPr>
          <a:xfrm>
            <a:off x="8921706" y="2173081"/>
            <a:ext cx="2681175" cy="3479804"/>
          </a:xfrm>
          <a:prstGeom prst="rect">
            <a:avLst/>
          </a:prstGeom>
        </p:spPr>
      </p:pic>
      <p:sp>
        <p:nvSpPr>
          <p:cNvPr id="10" name="TextBox 9">
            <a:extLst>
              <a:ext uri="{FF2B5EF4-FFF2-40B4-BE49-F238E27FC236}">
                <a16:creationId xmlns:a16="http://schemas.microsoft.com/office/drawing/2014/main" id="{23FD3D31-150B-38ED-CC3C-35B4975E9835}"/>
              </a:ext>
            </a:extLst>
          </p:cNvPr>
          <p:cNvSpPr txBox="1"/>
          <p:nvPr/>
        </p:nvSpPr>
        <p:spPr>
          <a:xfrm>
            <a:off x="8804742" y="1625970"/>
            <a:ext cx="3083195" cy="4837627"/>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15" name="TextBox 14">
            <a:extLst>
              <a:ext uri="{FF2B5EF4-FFF2-40B4-BE49-F238E27FC236}">
                <a16:creationId xmlns:a16="http://schemas.microsoft.com/office/drawing/2014/main" id="{ECC2D8F0-7987-C311-BD0A-6762CA46867A}"/>
              </a:ext>
            </a:extLst>
          </p:cNvPr>
          <p:cNvSpPr txBox="1"/>
          <p:nvPr/>
        </p:nvSpPr>
        <p:spPr>
          <a:xfrm>
            <a:off x="524541" y="1711953"/>
            <a:ext cx="8140536" cy="4665662"/>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pPr marL="0" indent="0" algn="r">
              <a:lnSpc>
                <a:spcPct val="100000"/>
              </a:lnSpc>
              <a:spcBef>
                <a:spcPts val="0"/>
              </a:spcBef>
              <a:buFont typeface="Arial" panose="020B0604020202020204" pitchFamily="34" charset="0"/>
              <a:buNone/>
            </a:pPr>
            <a:r>
              <a:rPr lang="en-US" sz="2000" dirty="0"/>
              <a:t>Detuning determines the kinetic energy acquired</a:t>
            </a:r>
          </a:p>
        </p:txBody>
      </p:sp>
      <p:sp>
        <p:nvSpPr>
          <p:cNvPr id="2" name="Title 1">
            <a:extLst>
              <a:ext uri="{FF2B5EF4-FFF2-40B4-BE49-F238E27FC236}">
                <a16:creationId xmlns:a16="http://schemas.microsoft.com/office/drawing/2014/main" id="{EE8F052D-9D14-751C-5A6C-965D31CE753B}"/>
              </a:ext>
            </a:extLst>
          </p:cNvPr>
          <p:cNvSpPr>
            <a:spLocks noGrp="1"/>
          </p:cNvSpPr>
          <p:nvPr>
            <p:ph type="title"/>
          </p:nvPr>
        </p:nvSpPr>
        <p:spPr/>
        <p:txBody>
          <a:bodyPr/>
          <a:lstStyle/>
          <a:p>
            <a:r>
              <a:rPr lang="en-US" dirty="0"/>
              <a:t>Resonantly Ejected Atoms in Time-of-Flight</a:t>
            </a:r>
          </a:p>
        </p:txBody>
      </p:sp>
      <p:sp>
        <p:nvSpPr>
          <p:cNvPr id="4" name="Date Placeholder 3">
            <a:extLst>
              <a:ext uri="{FF2B5EF4-FFF2-40B4-BE49-F238E27FC236}">
                <a16:creationId xmlns:a16="http://schemas.microsoft.com/office/drawing/2014/main" id="{17F64A94-7649-4E44-0684-0CF06550EC48}"/>
              </a:ext>
            </a:extLst>
          </p:cNvPr>
          <p:cNvSpPr>
            <a:spLocks noGrp="1"/>
          </p:cNvSpPr>
          <p:nvPr>
            <p:ph type="dt" sz="half" idx="10"/>
          </p:nvPr>
        </p:nvSpPr>
        <p:spPr/>
        <p:txBody>
          <a:bodyPr/>
          <a:lstStyle/>
          <a:p>
            <a:fld id="{AED200CB-327C-4CFF-AB9A-166E0F118EC0}" type="datetime1">
              <a:rPr lang="en-US" smtClean="0"/>
              <a:t>5/28/2026</a:t>
            </a:fld>
            <a:endParaRPr lang="en-US"/>
          </a:p>
        </p:txBody>
      </p:sp>
      <p:sp>
        <p:nvSpPr>
          <p:cNvPr id="5" name="Footer Placeholder 4">
            <a:extLst>
              <a:ext uri="{FF2B5EF4-FFF2-40B4-BE49-F238E27FC236}">
                <a16:creationId xmlns:a16="http://schemas.microsoft.com/office/drawing/2014/main" id="{F231F46A-2F78-0D75-F0F2-0997CA7B7086}"/>
              </a:ext>
            </a:extLst>
          </p:cNvPr>
          <p:cNvSpPr>
            <a:spLocks noGrp="1"/>
          </p:cNvSpPr>
          <p:nvPr>
            <p:ph type="ftr" sz="quarter" idx="11"/>
          </p:nvPr>
        </p:nvSpPr>
        <p:spPr/>
        <p:txBody>
          <a:bodyPr/>
          <a:lstStyle/>
          <a:p>
            <a:r>
              <a:rPr lang="en-US" dirty="0"/>
              <a:t>Light Scattering from Closely-Spaced Atom Pairs</a:t>
            </a:r>
          </a:p>
        </p:txBody>
      </p:sp>
      <p:sp>
        <p:nvSpPr>
          <p:cNvPr id="6" name="Slide Number Placeholder 5">
            <a:extLst>
              <a:ext uri="{FF2B5EF4-FFF2-40B4-BE49-F238E27FC236}">
                <a16:creationId xmlns:a16="http://schemas.microsoft.com/office/drawing/2014/main" id="{94464D4E-6040-76A1-D0DF-2A6E581D8B17}"/>
              </a:ext>
            </a:extLst>
          </p:cNvPr>
          <p:cNvSpPr>
            <a:spLocks noGrp="1"/>
          </p:cNvSpPr>
          <p:nvPr>
            <p:ph type="sldNum" sz="quarter" idx="12"/>
          </p:nvPr>
        </p:nvSpPr>
        <p:spPr/>
        <p:txBody>
          <a:bodyPr/>
          <a:lstStyle/>
          <a:p>
            <a:fld id="{A18CFF8F-6617-428E-9314-96DE529C98C8}" type="slidenum">
              <a:rPr lang="en-US" smtClean="0"/>
              <a:t>12</a:t>
            </a:fld>
            <a:endParaRPr lang="en-US"/>
          </a:p>
        </p:txBody>
      </p:sp>
      <p:pic>
        <p:nvPicPr>
          <p:cNvPr id="12" name="Picture 11">
            <a:extLst>
              <a:ext uri="{FF2B5EF4-FFF2-40B4-BE49-F238E27FC236}">
                <a16:creationId xmlns:a16="http://schemas.microsoft.com/office/drawing/2014/main" id="{B1CB6B07-4FCF-AA53-604C-EC164106EEB8}"/>
              </a:ext>
            </a:extLst>
          </p:cNvPr>
          <p:cNvPicPr>
            <a:picLocks noChangeAspect="1"/>
          </p:cNvPicPr>
          <p:nvPr/>
        </p:nvPicPr>
        <p:blipFill>
          <a:blip r:embed="rId3"/>
          <a:stretch>
            <a:fillRect/>
          </a:stretch>
        </p:blipFill>
        <p:spPr>
          <a:xfrm>
            <a:off x="2753038" y="2226030"/>
            <a:ext cx="5744154" cy="4130320"/>
          </a:xfrm>
          <a:prstGeom prst="rect">
            <a:avLst/>
          </a:prstGeom>
        </p:spPr>
      </p:pic>
      <p:sp>
        <p:nvSpPr>
          <p:cNvPr id="7" name="TextBox 6">
            <a:extLst>
              <a:ext uri="{FF2B5EF4-FFF2-40B4-BE49-F238E27FC236}">
                <a16:creationId xmlns:a16="http://schemas.microsoft.com/office/drawing/2014/main" id="{B5B7F777-9C05-7E8C-DCDD-889E4B744470}"/>
              </a:ext>
            </a:extLst>
          </p:cNvPr>
          <p:cNvSpPr txBox="1"/>
          <p:nvPr/>
        </p:nvSpPr>
        <p:spPr>
          <a:xfrm>
            <a:off x="3031498" y="2234373"/>
            <a:ext cx="1972900" cy="3756852"/>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8" name="TextBox 7">
            <a:extLst>
              <a:ext uri="{FF2B5EF4-FFF2-40B4-BE49-F238E27FC236}">
                <a16:creationId xmlns:a16="http://schemas.microsoft.com/office/drawing/2014/main" id="{6DBB5481-2509-05A0-9EA7-F3ABEF144237}"/>
              </a:ext>
            </a:extLst>
          </p:cNvPr>
          <p:cNvSpPr txBox="1"/>
          <p:nvPr/>
        </p:nvSpPr>
        <p:spPr>
          <a:xfrm>
            <a:off x="5099435" y="2281936"/>
            <a:ext cx="1632657" cy="3756852"/>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9" name="TextBox 8">
            <a:extLst>
              <a:ext uri="{FF2B5EF4-FFF2-40B4-BE49-F238E27FC236}">
                <a16:creationId xmlns:a16="http://schemas.microsoft.com/office/drawing/2014/main" id="{AA611357-64FB-6FA3-E2B5-F08938409AD3}"/>
              </a:ext>
            </a:extLst>
          </p:cNvPr>
          <p:cNvSpPr txBox="1"/>
          <p:nvPr/>
        </p:nvSpPr>
        <p:spPr>
          <a:xfrm>
            <a:off x="6732092" y="2281936"/>
            <a:ext cx="1800540" cy="3756852"/>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pic>
        <p:nvPicPr>
          <p:cNvPr id="19" name="Picture 18">
            <a:extLst>
              <a:ext uri="{FF2B5EF4-FFF2-40B4-BE49-F238E27FC236}">
                <a16:creationId xmlns:a16="http://schemas.microsoft.com/office/drawing/2014/main" id="{F484D267-0851-ACA4-B2DC-CCF1598C4D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1179" y="1784565"/>
            <a:ext cx="1754309" cy="4454935"/>
          </a:xfrm>
          <a:prstGeom prst="rect">
            <a:avLst/>
          </a:prstGeom>
        </p:spPr>
      </p:pic>
      <p:sp>
        <p:nvSpPr>
          <p:cNvPr id="20" name="TextBox 19">
            <a:extLst>
              <a:ext uri="{FF2B5EF4-FFF2-40B4-BE49-F238E27FC236}">
                <a16:creationId xmlns:a16="http://schemas.microsoft.com/office/drawing/2014/main" id="{BB0AF082-4C20-D9A5-05EC-4EBCE987478E}"/>
              </a:ext>
            </a:extLst>
          </p:cNvPr>
          <p:cNvSpPr txBox="1"/>
          <p:nvPr/>
        </p:nvSpPr>
        <p:spPr>
          <a:xfrm>
            <a:off x="626363" y="1733217"/>
            <a:ext cx="1972900" cy="1462214"/>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21" name="TextBox 20">
            <a:extLst>
              <a:ext uri="{FF2B5EF4-FFF2-40B4-BE49-F238E27FC236}">
                <a16:creationId xmlns:a16="http://schemas.microsoft.com/office/drawing/2014/main" id="{6AFA6C9B-82FE-E478-FD88-A16D9E18F72B}"/>
              </a:ext>
            </a:extLst>
          </p:cNvPr>
          <p:cNvSpPr txBox="1"/>
          <p:nvPr/>
        </p:nvSpPr>
        <p:spPr>
          <a:xfrm>
            <a:off x="666730" y="4720271"/>
            <a:ext cx="1972900" cy="1540494"/>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22" name="TextBox 21">
            <a:extLst>
              <a:ext uri="{FF2B5EF4-FFF2-40B4-BE49-F238E27FC236}">
                <a16:creationId xmlns:a16="http://schemas.microsoft.com/office/drawing/2014/main" id="{683502E3-B1C1-1AED-25EB-5DF99815AE95}"/>
              </a:ext>
            </a:extLst>
          </p:cNvPr>
          <p:cNvSpPr txBox="1"/>
          <p:nvPr/>
        </p:nvSpPr>
        <p:spPr>
          <a:xfrm>
            <a:off x="626363" y="3215528"/>
            <a:ext cx="1972900" cy="1516490"/>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Tree>
    <p:extLst>
      <p:ext uri="{BB962C8B-B14F-4D97-AF65-F5344CB8AC3E}">
        <p14:creationId xmlns:p14="http://schemas.microsoft.com/office/powerpoint/2010/main" val="322723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 grpId="0" animBg="1"/>
      <p:bldP spid="8" grpId="0" animBg="1"/>
      <p:bldP spid="9" grpId="0" animBg="1"/>
      <p:bldP spid="20" grpId="0" animBg="1"/>
      <p:bldP spid="21"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7258B1AF-0A1C-05DA-AA31-FFF66A596479}"/>
              </a:ext>
            </a:extLst>
          </p:cNvPr>
          <p:cNvSpPr txBox="1"/>
          <p:nvPr/>
        </p:nvSpPr>
        <p:spPr>
          <a:xfrm>
            <a:off x="971108" y="3708310"/>
            <a:ext cx="10382692" cy="2394890"/>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chor="ctr">
            <a:normAutofit/>
          </a:bodyPr>
          <a:lstStyle/>
          <a:p>
            <a:pPr marL="0" indent="0" algn="l">
              <a:lnSpc>
                <a:spcPct val="100000"/>
              </a:lnSpc>
              <a:spcBef>
                <a:spcPts val="0"/>
              </a:spcBef>
              <a:buFont typeface="Arial" panose="020B0604020202020204" pitchFamily="34" charset="0"/>
              <a:buNone/>
            </a:pPr>
            <a:r>
              <a:rPr lang="en-US" sz="2000" dirty="0"/>
              <a:t>More atoms in Condon region</a:t>
            </a:r>
          </a:p>
          <a:p>
            <a:pPr marL="0" indent="0" algn="l">
              <a:lnSpc>
                <a:spcPct val="100000"/>
              </a:lnSpc>
              <a:spcBef>
                <a:spcPts val="0"/>
              </a:spcBef>
              <a:buFont typeface="Arial" panose="020B0604020202020204" pitchFamily="34" charset="0"/>
              <a:buNone/>
            </a:pPr>
            <a:r>
              <a:rPr lang="en-US" sz="2000" dirty="0">
                <a:sym typeface="Wingdings" panose="05000000000000000000" pitchFamily="2" charset="2"/>
              </a:rPr>
              <a:t> More atoms inelastically scatter</a:t>
            </a:r>
            <a:endParaRPr lang="en-US" sz="2000" dirty="0"/>
          </a:p>
        </p:txBody>
      </p:sp>
      <p:pic>
        <p:nvPicPr>
          <p:cNvPr id="42" name="Picture 41">
            <a:extLst>
              <a:ext uri="{FF2B5EF4-FFF2-40B4-BE49-F238E27FC236}">
                <a16:creationId xmlns:a16="http://schemas.microsoft.com/office/drawing/2014/main" id="{3D8CBE72-1A2C-889E-2623-FC8A8EBCB922}"/>
              </a:ext>
            </a:extLst>
          </p:cNvPr>
          <p:cNvPicPr>
            <a:picLocks noChangeAspect="1"/>
          </p:cNvPicPr>
          <p:nvPr/>
        </p:nvPicPr>
        <p:blipFill>
          <a:blip r:embed="rId2"/>
          <a:stretch>
            <a:fillRect/>
          </a:stretch>
        </p:blipFill>
        <p:spPr>
          <a:xfrm>
            <a:off x="5061097" y="3795584"/>
            <a:ext cx="6159795" cy="2259225"/>
          </a:xfrm>
          <a:prstGeom prst="rect">
            <a:avLst/>
          </a:prstGeom>
        </p:spPr>
      </p:pic>
      <p:sp>
        <p:nvSpPr>
          <p:cNvPr id="9" name="TextBox 8">
            <a:extLst>
              <a:ext uri="{FF2B5EF4-FFF2-40B4-BE49-F238E27FC236}">
                <a16:creationId xmlns:a16="http://schemas.microsoft.com/office/drawing/2014/main" id="{202D0337-B913-39AF-8C5F-21E9B2F61314}"/>
              </a:ext>
            </a:extLst>
          </p:cNvPr>
          <p:cNvSpPr txBox="1"/>
          <p:nvPr/>
        </p:nvSpPr>
        <p:spPr>
          <a:xfrm>
            <a:off x="791532" y="3638898"/>
            <a:ext cx="10737112" cy="2533714"/>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34" name="TextBox 33">
            <a:extLst>
              <a:ext uri="{FF2B5EF4-FFF2-40B4-BE49-F238E27FC236}">
                <a16:creationId xmlns:a16="http://schemas.microsoft.com/office/drawing/2014/main" id="{452386E9-44A3-D2E9-FA1D-8B8C8657240A}"/>
              </a:ext>
            </a:extLst>
          </p:cNvPr>
          <p:cNvSpPr txBox="1"/>
          <p:nvPr/>
        </p:nvSpPr>
        <p:spPr>
          <a:xfrm>
            <a:off x="971108" y="1690688"/>
            <a:ext cx="5188980" cy="1923078"/>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chor="ctr">
            <a:normAutofit/>
          </a:bodyPr>
          <a:lstStyle/>
          <a:p>
            <a:pPr algn="l">
              <a:lnSpc>
                <a:spcPct val="100000"/>
              </a:lnSpc>
              <a:spcBef>
                <a:spcPts val="0"/>
              </a:spcBef>
            </a:pPr>
            <a:r>
              <a:rPr lang="en-US" sz="2000" dirty="0"/>
              <a:t>Scattering length alters </a:t>
            </a:r>
            <a:br>
              <a:rPr lang="en-US" sz="2000" dirty="0"/>
            </a:br>
            <a:r>
              <a:rPr lang="en-US" sz="2000" dirty="0"/>
              <a:t>the two-particle </a:t>
            </a:r>
            <a:br>
              <a:rPr lang="en-US" sz="2000" dirty="0"/>
            </a:br>
            <a:r>
              <a:rPr lang="en-US" sz="2000" dirty="0"/>
              <a:t>wavefunction</a:t>
            </a:r>
          </a:p>
        </p:txBody>
      </p:sp>
      <p:sp>
        <p:nvSpPr>
          <p:cNvPr id="10" name="TextBox 9">
            <a:extLst>
              <a:ext uri="{FF2B5EF4-FFF2-40B4-BE49-F238E27FC236}">
                <a16:creationId xmlns:a16="http://schemas.microsoft.com/office/drawing/2014/main" id="{8A90B1FF-8E5E-4ABC-ED69-8D1F0FF952A4}"/>
              </a:ext>
            </a:extLst>
          </p:cNvPr>
          <p:cNvSpPr txBox="1"/>
          <p:nvPr/>
        </p:nvSpPr>
        <p:spPr>
          <a:xfrm>
            <a:off x="6292996" y="1690231"/>
            <a:ext cx="5060804" cy="1923078"/>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chor="ctr">
            <a:normAutofit/>
          </a:bodyPr>
          <a:lstStyle/>
          <a:p>
            <a:pPr algn="l">
              <a:lnSpc>
                <a:spcPct val="100000"/>
              </a:lnSpc>
              <a:spcBef>
                <a:spcPts val="0"/>
              </a:spcBef>
            </a:pPr>
            <a:r>
              <a:rPr lang="en-US" sz="2000" dirty="0"/>
              <a:t>Changes amount of </a:t>
            </a:r>
            <a:br>
              <a:rPr lang="en-US" sz="2000" dirty="0"/>
            </a:br>
            <a:r>
              <a:rPr lang="en-US" sz="2000" dirty="0"/>
              <a:t>inelastic scattering </a:t>
            </a:r>
            <a:br>
              <a:rPr lang="en-US" sz="2000" dirty="0"/>
            </a:br>
            <a:r>
              <a:rPr lang="en-US" sz="2000" dirty="0"/>
              <a:t>due to near-resonant</a:t>
            </a:r>
            <a:br>
              <a:rPr lang="en-US" sz="2000" dirty="0"/>
            </a:br>
            <a:r>
              <a:rPr lang="en-US" sz="2000" dirty="0"/>
              <a:t>Condon region</a:t>
            </a:r>
          </a:p>
        </p:txBody>
      </p:sp>
      <p:sp>
        <p:nvSpPr>
          <p:cNvPr id="2" name="Title 1">
            <a:extLst>
              <a:ext uri="{FF2B5EF4-FFF2-40B4-BE49-F238E27FC236}">
                <a16:creationId xmlns:a16="http://schemas.microsoft.com/office/drawing/2014/main" id="{02F8746D-72C4-3C3F-1205-B5C94551C44E}"/>
              </a:ext>
            </a:extLst>
          </p:cNvPr>
          <p:cNvSpPr>
            <a:spLocks noGrp="1"/>
          </p:cNvSpPr>
          <p:nvPr>
            <p:ph type="title"/>
          </p:nvPr>
        </p:nvSpPr>
        <p:spPr/>
        <p:txBody>
          <a:bodyPr/>
          <a:lstStyle/>
          <a:p>
            <a:r>
              <a:rPr lang="en-US" dirty="0"/>
              <a:t>Altering Wavefunction with Scattering Length</a:t>
            </a:r>
          </a:p>
        </p:txBody>
      </p:sp>
      <p:sp>
        <p:nvSpPr>
          <p:cNvPr id="4" name="Date Placeholder 3">
            <a:extLst>
              <a:ext uri="{FF2B5EF4-FFF2-40B4-BE49-F238E27FC236}">
                <a16:creationId xmlns:a16="http://schemas.microsoft.com/office/drawing/2014/main" id="{49ADD028-BDFB-6A1F-8AE6-3ED9AD051850}"/>
              </a:ext>
            </a:extLst>
          </p:cNvPr>
          <p:cNvSpPr>
            <a:spLocks noGrp="1"/>
          </p:cNvSpPr>
          <p:nvPr>
            <p:ph type="dt" sz="half" idx="10"/>
          </p:nvPr>
        </p:nvSpPr>
        <p:spPr/>
        <p:txBody>
          <a:bodyPr/>
          <a:lstStyle/>
          <a:p>
            <a:fld id="{9C8ECD26-ECA3-4ADE-86E6-5D0E6D6DC887}" type="datetime1">
              <a:rPr lang="en-US" smtClean="0"/>
              <a:t>5/28/2026</a:t>
            </a:fld>
            <a:endParaRPr lang="en-US"/>
          </a:p>
        </p:txBody>
      </p:sp>
      <p:sp>
        <p:nvSpPr>
          <p:cNvPr id="5" name="Footer Placeholder 4">
            <a:extLst>
              <a:ext uri="{FF2B5EF4-FFF2-40B4-BE49-F238E27FC236}">
                <a16:creationId xmlns:a16="http://schemas.microsoft.com/office/drawing/2014/main" id="{596886A1-4B73-DA60-4853-DDFFABAA180A}"/>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3CB3C4A2-505B-CB64-ABC4-AF7C24EF3D26}"/>
              </a:ext>
            </a:extLst>
          </p:cNvPr>
          <p:cNvSpPr>
            <a:spLocks noGrp="1"/>
          </p:cNvSpPr>
          <p:nvPr>
            <p:ph type="sldNum" sz="quarter" idx="12"/>
          </p:nvPr>
        </p:nvSpPr>
        <p:spPr/>
        <p:txBody>
          <a:bodyPr/>
          <a:lstStyle/>
          <a:p>
            <a:fld id="{A18CFF8F-6617-428E-9314-96DE529C98C8}" type="slidenum">
              <a:rPr lang="en-US" smtClean="0"/>
              <a:t>13</a:t>
            </a:fld>
            <a:endParaRPr lang="en-US"/>
          </a:p>
        </p:txBody>
      </p:sp>
      <p:grpSp>
        <p:nvGrpSpPr>
          <p:cNvPr id="35" name="Group 34">
            <a:extLst>
              <a:ext uri="{FF2B5EF4-FFF2-40B4-BE49-F238E27FC236}">
                <a16:creationId xmlns:a16="http://schemas.microsoft.com/office/drawing/2014/main" id="{90865E56-0DD0-B270-5A38-4F9BC17BBBF9}"/>
              </a:ext>
            </a:extLst>
          </p:cNvPr>
          <p:cNvGrpSpPr/>
          <p:nvPr/>
        </p:nvGrpSpPr>
        <p:grpSpPr>
          <a:xfrm>
            <a:off x="9135429" y="1777577"/>
            <a:ext cx="2190306" cy="1738312"/>
            <a:chOff x="7734574" y="2426206"/>
            <a:chExt cx="3880024" cy="3250150"/>
          </a:xfrm>
        </p:grpSpPr>
        <p:pic>
          <p:nvPicPr>
            <p:cNvPr id="36" name="Picture 35">
              <a:extLst>
                <a:ext uri="{FF2B5EF4-FFF2-40B4-BE49-F238E27FC236}">
                  <a16:creationId xmlns:a16="http://schemas.microsoft.com/office/drawing/2014/main" id="{2DAE64C8-6F13-F1D3-0FDB-A3F42362F65C}"/>
                </a:ext>
              </a:extLst>
            </p:cNvPr>
            <p:cNvPicPr>
              <a:picLocks noChangeAspect="1"/>
            </p:cNvPicPr>
            <p:nvPr/>
          </p:nvPicPr>
          <p:blipFill>
            <a:blip r:embed="rId3"/>
            <a:stretch>
              <a:fillRect/>
            </a:stretch>
          </p:blipFill>
          <p:spPr>
            <a:xfrm>
              <a:off x="7734574" y="2426206"/>
              <a:ext cx="3880024" cy="3250150"/>
            </a:xfrm>
            <a:prstGeom prst="rect">
              <a:avLst/>
            </a:prstGeom>
          </p:spPr>
        </p:pic>
        <p:sp>
          <p:nvSpPr>
            <p:cNvPr id="37" name="TextBox 36">
              <a:extLst>
                <a:ext uri="{FF2B5EF4-FFF2-40B4-BE49-F238E27FC236}">
                  <a16:creationId xmlns:a16="http://schemas.microsoft.com/office/drawing/2014/main" id="{72A0A1F7-50D9-F577-B3CB-030F866A1BDD}"/>
                </a:ext>
              </a:extLst>
            </p:cNvPr>
            <p:cNvSpPr txBox="1"/>
            <p:nvPr/>
          </p:nvSpPr>
          <p:spPr>
            <a:xfrm>
              <a:off x="9533339" y="4173281"/>
              <a:ext cx="1105679" cy="706115"/>
            </a:xfrm>
            <a:prstGeom prst="rect">
              <a:avLst/>
            </a:prstGeom>
            <a:noFill/>
          </p:spPr>
          <p:txBody>
            <a:bodyPr wrap="none" rtlCol="0">
              <a:spAutoFit/>
            </a:bodyPr>
            <a:lstStyle/>
            <a:p>
              <a:r>
                <a:rPr lang="en-US" sz="1100" dirty="0">
                  <a:solidFill>
                    <a:schemeClr val="bg1"/>
                  </a:solidFill>
                </a:rPr>
                <a:t>Condon </a:t>
              </a:r>
            </a:p>
            <a:p>
              <a:r>
                <a:rPr lang="en-US" sz="1100" dirty="0">
                  <a:solidFill>
                    <a:schemeClr val="bg1"/>
                  </a:solidFill>
                </a:rPr>
                <a:t>region</a:t>
              </a:r>
            </a:p>
          </p:txBody>
        </p:sp>
        <p:cxnSp>
          <p:nvCxnSpPr>
            <p:cNvPr id="38" name="Straight Arrow Connector 37">
              <a:extLst>
                <a:ext uri="{FF2B5EF4-FFF2-40B4-BE49-F238E27FC236}">
                  <a16:creationId xmlns:a16="http://schemas.microsoft.com/office/drawing/2014/main" id="{30757E53-12EA-B503-52E8-6625D9643B2E}"/>
                </a:ext>
              </a:extLst>
            </p:cNvPr>
            <p:cNvCxnSpPr>
              <a:cxnSpLocks/>
              <a:stCxn id="37" idx="1"/>
            </p:cNvCxnSpPr>
            <p:nvPr/>
          </p:nvCxnSpPr>
          <p:spPr>
            <a:xfrm flipH="1" flipV="1">
              <a:off x="9108558" y="4373526"/>
              <a:ext cx="424780" cy="152813"/>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pic>
        <p:nvPicPr>
          <p:cNvPr id="39" name="Picture 38">
            <a:extLst>
              <a:ext uri="{FF2B5EF4-FFF2-40B4-BE49-F238E27FC236}">
                <a16:creationId xmlns:a16="http://schemas.microsoft.com/office/drawing/2014/main" id="{ACEFCBAC-4C36-3971-552D-763744479B6A}"/>
              </a:ext>
            </a:extLst>
          </p:cNvPr>
          <p:cNvPicPr>
            <a:picLocks noChangeAspect="1"/>
          </p:cNvPicPr>
          <p:nvPr/>
        </p:nvPicPr>
        <p:blipFill>
          <a:blip r:embed="rId4"/>
          <a:stretch>
            <a:fillRect/>
          </a:stretch>
        </p:blipFill>
        <p:spPr>
          <a:xfrm>
            <a:off x="3863594" y="1777962"/>
            <a:ext cx="2187614" cy="1737927"/>
          </a:xfrm>
          <a:prstGeom prst="rect">
            <a:avLst/>
          </a:prstGeom>
        </p:spPr>
      </p:pic>
      <p:sp>
        <p:nvSpPr>
          <p:cNvPr id="8" name="TextBox 7">
            <a:extLst>
              <a:ext uri="{FF2B5EF4-FFF2-40B4-BE49-F238E27FC236}">
                <a16:creationId xmlns:a16="http://schemas.microsoft.com/office/drawing/2014/main" id="{6A6FF1C4-73B0-1856-694D-4670A457CFE4}"/>
              </a:ext>
            </a:extLst>
          </p:cNvPr>
          <p:cNvSpPr txBox="1"/>
          <p:nvPr/>
        </p:nvSpPr>
        <p:spPr>
          <a:xfrm>
            <a:off x="6244829" y="1564541"/>
            <a:ext cx="5241879" cy="2114009"/>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Tree>
    <p:extLst>
      <p:ext uri="{BB962C8B-B14F-4D97-AF65-F5344CB8AC3E}">
        <p14:creationId xmlns:p14="http://schemas.microsoft.com/office/powerpoint/2010/main" val="4232766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708C6-1B83-8592-19B1-7783F427F651}"/>
              </a:ext>
            </a:extLst>
          </p:cNvPr>
          <p:cNvSpPr>
            <a:spLocks noGrp="1"/>
          </p:cNvSpPr>
          <p:nvPr>
            <p:ph type="title"/>
          </p:nvPr>
        </p:nvSpPr>
        <p:spPr/>
        <p:txBody>
          <a:bodyPr/>
          <a:lstStyle/>
          <a:p>
            <a:r>
              <a:rPr lang="en-US" dirty="0"/>
              <a:t>Outlook</a:t>
            </a:r>
          </a:p>
        </p:txBody>
      </p:sp>
      <p:sp>
        <p:nvSpPr>
          <p:cNvPr id="3" name="Content Placeholder 2">
            <a:extLst>
              <a:ext uri="{FF2B5EF4-FFF2-40B4-BE49-F238E27FC236}">
                <a16:creationId xmlns:a16="http://schemas.microsoft.com/office/drawing/2014/main" id="{E46222C2-D7CA-95C4-05ED-4A48696136D7}"/>
              </a:ext>
            </a:extLst>
          </p:cNvPr>
          <p:cNvSpPr>
            <a:spLocks noGrp="1"/>
          </p:cNvSpPr>
          <p:nvPr>
            <p:ph idx="1"/>
          </p:nvPr>
        </p:nvSpPr>
        <p:spPr/>
        <p:txBody>
          <a:bodyPr/>
          <a:lstStyle/>
          <a:p>
            <a:r>
              <a:rPr lang="en-US" dirty="0"/>
              <a:t>Three atoms per site</a:t>
            </a:r>
          </a:p>
          <a:p>
            <a:r>
              <a:rPr lang="en-US" dirty="0"/>
              <a:t>Probe for few-body or molecular physics</a:t>
            </a:r>
          </a:p>
          <a:p>
            <a:endParaRPr lang="en-US" dirty="0"/>
          </a:p>
        </p:txBody>
      </p:sp>
      <p:sp>
        <p:nvSpPr>
          <p:cNvPr id="4" name="Date Placeholder 3">
            <a:extLst>
              <a:ext uri="{FF2B5EF4-FFF2-40B4-BE49-F238E27FC236}">
                <a16:creationId xmlns:a16="http://schemas.microsoft.com/office/drawing/2014/main" id="{A123A20E-E21C-8897-946B-65EE5A253655}"/>
              </a:ext>
            </a:extLst>
          </p:cNvPr>
          <p:cNvSpPr>
            <a:spLocks noGrp="1"/>
          </p:cNvSpPr>
          <p:nvPr>
            <p:ph type="dt" sz="half" idx="10"/>
          </p:nvPr>
        </p:nvSpPr>
        <p:spPr/>
        <p:txBody>
          <a:bodyPr/>
          <a:lstStyle/>
          <a:p>
            <a:fld id="{F25D5417-AE7C-452B-8F7B-3AC2E49F768F}" type="datetime1">
              <a:rPr lang="en-US" smtClean="0"/>
              <a:t>5/28/2026</a:t>
            </a:fld>
            <a:endParaRPr lang="en-US"/>
          </a:p>
        </p:txBody>
      </p:sp>
      <p:sp>
        <p:nvSpPr>
          <p:cNvPr id="5" name="Footer Placeholder 4">
            <a:extLst>
              <a:ext uri="{FF2B5EF4-FFF2-40B4-BE49-F238E27FC236}">
                <a16:creationId xmlns:a16="http://schemas.microsoft.com/office/drawing/2014/main" id="{06674928-DE59-855D-5300-2CFF3E0316FE}"/>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CE347D31-02BD-55F1-DD90-5BC1D3946DD9}"/>
              </a:ext>
            </a:extLst>
          </p:cNvPr>
          <p:cNvSpPr>
            <a:spLocks noGrp="1"/>
          </p:cNvSpPr>
          <p:nvPr>
            <p:ph type="sldNum" sz="quarter" idx="12"/>
          </p:nvPr>
        </p:nvSpPr>
        <p:spPr/>
        <p:txBody>
          <a:bodyPr/>
          <a:lstStyle/>
          <a:p>
            <a:fld id="{A18CFF8F-6617-428E-9314-96DE529C98C8}" type="slidenum">
              <a:rPr lang="en-US" smtClean="0"/>
              <a:t>14</a:t>
            </a:fld>
            <a:endParaRPr lang="en-US"/>
          </a:p>
        </p:txBody>
      </p:sp>
    </p:spTree>
    <p:extLst>
      <p:ext uri="{BB962C8B-B14F-4D97-AF65-F5344CB8AC3E}">
        <p14:creationId xmlns:p14="http://schemas.microsoft.com/office/powerpoint/2010/main" val="1896119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A8B09-2D8D-34DF-43B8-37684B14EC62}"/>
              </a:ext>
            </a:extLst>
          </p:cNvPr>
          <p:cNvSpPr>
            <a:spLocks noGrp="1"/>
          </p:cNvSpPr>
          <p:nvPr>
            <p:ph type="title"/>
          </p:nvPr>
        </p:nvSpPr>
        <p:spPr/>
        <p:txBody>
          <a:bodyPr/>
          <a:lstStyle/>
          <a:p>
            <a:r>
              <a:rPr lang="en-US" dirty="0"/>
              <a:t>Acknowledgments</a:t>
            </a:r>
          </a:p>
        </p:txBody>
      </p:sp>
      <p:sp>
        <p:nvSpPr>
          <p:cNvPr id="3" name="Content Placeholder 2">
            <a:extLst>
              <a:ext uri="{FF2B5EF4-FFF2-40B4-BE49-F238E27FC236}">
                <a16:creationId xmlns:a16="http://schemas.microsoft.com/office/drawing/2014/main" id="{A5A9423C-172D-AD89-ABEE-F742E03251BA}"/>
              </a:ext>
            </a:extLst>
          </p:cNvPr>
          <p:cNvSpPr>
            <a:spLocks noGrp="1"/>
          </p:cNvSpPr>
          <p:nvPr>
            <p:ph idx="1"/>
          </p:nvPr>
        </p:nvSpPr>
        <p:spPr/>
        <p:txBody>
          <a:bodyPr/>
          <a:lstStyle/>
          <a:p>
            <a:r>
              <a:rPr lang="en-US" dirty="0"/>
              <a:t>Ketterle group</a:t>
            </a:r>
          </a:p>
        </p:txBody>
      </p:sp>
      <p:sp>
        <p:nvSpPr>
          <p:cNvPr id="4" name="Date Placeholder 3">
            <a:extLst>
              <a:ext uri="{FF2B5EF4-FFF2-40B4-BE49-F238E27FC236}">
                <a16:creationId xmlns:a16="http://schemas.microsoft.com/office/drawing/2014/main" id="{6806F2C6-3B41-5169-9A7D-C85A2824CBB0}"/>
              </a:ext>
            </a:extLst>
          </p:cNvPr>
          <p:cNvSpPr>
            <a:spLocks noGrp="1"/>
          </p:cNvSpPr>
          <p:nvPr>
            <p:ph type="dt" sz="half" idx="10"/>
          </p:nvPr>
        </p:nvSpPr>
        <p:spPr/>
        <p:txBody>
          <a:bodyPr/>
          <a:lstStyle/>
          <a:p>
            <a:fld id="{85EDDD84-7411-4657-9048-E904991F6E19}" type="datetime1">
              <a:rPr lang="en-US" smtClean="0"/>
              <a:t>5/28/2026</a:t>
            </a:fld>
            <a:endParaRPr lang="en-US"/>
          </a:p>
        </p:txBody>
      </p:sp>
      <p:sp>
        <p:nvSpPr>
          <p:cNvPr id="5" name="Footer Placeholder 4">
            <a:extLst>
              <a:ext uri="{FF2B5EF4-FFF2-40B4-BE49-F238E27FC236}">
                <a16:creationId xmlns:a16="http://schemas.microsoft.com/office/drawing/2014/main" id="{6646E931-C056-23B6-FE33-8F04DBC4680F}"/>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4407BE73-5400-4182-82D8-8C7605EB320A}"/>
              </a:ext>
            </a:extLst>
          </p:cNvPr>
          <p:cNvSpPr>
            <a:spLocks noGrp="1"/>
          </p:cNvSpPr>
          <p:nvPr>
            <p:ph type="sldNum" sz="quarter" idx="12"/>
          </p:nvPr>
        </p:nvSpPr>
        <p:spPr/>
        <p:txBody>
          <a:bodyPr/>
          <a:lstStyle/>
          <a:p>
            <a:fld id="{A18CFF8F-6617-428E-9314-96DE529C98C8}" type="slidenum">
              <a:rPr lang="en-US" smtClean="0"/>
              <a:t>15</a:t>
            </a:fld>
            <a:endParaRPr lang="en-US"/>
          </a:p>
        </p:txBody>
      </p:sp>
    </p:spTree>
    <p:extLst>
      <p:ext uri="{BB962C8B-B14F-4D97-AF65-F5344CB8AC3E}">
        <p14:creationId xmlns:p14="http://schemas.microsoft.com/office/powerpoint/2010/main" val="4055001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45593AD-AB7C-E43C-722D-AEA3A1F1056C}"/>
              </a:ext>
            </a:extLst>
          </p:cNvPr>
          <p:cNvSpPr txBox="1"/>
          <p:nvPr/>
        </p:nvSpPr>
        <p:spPr>
          <a:xfrm>
            <a:off x="8484781" y="1605908"/>
            <a:ext cx="3048000" cy="4646083"/>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r>
              <a:rPr lang="en-US" sz="2000" dirty="0"/>
              <a:t>Doesn’t immediately saturate because the region is getting refilled by inner wavefunction</a:t>
            </a:r>
          </a:p>
          <a:p>
            <a:pPr marL="0" indent="0" algn="l">
              <a:lnSpc>
                <a:spcPct val="100000"/>
              </a:lnSpc>
              <a:spcBef>
                <a:spcPts val="0"/>
              </a:spcBef>
              <a:buFont typeface="Arial" panose="020B0604020202020204" pitchFamily="34" charset="0"/>
              <a:buNone/>
            </a:pPr>
            <a:endParaRPr lang="en-US" sz="1600" b="1" dirty="0"/>
          </a:p>
        </p:txBody>
      </p:sp>
      <p:sp>
        <p:nvSpPr>
          <p:cNvPr id="2" name="Title 1">
            <a:extLst>
              <a:ext uri="{FF2B5EF4-FFF2-40B4-BE49-F238E27FC236}">
                <a16:creationId xmlns:a16="http://schemas.microsoft.com/office/drawing/2014/main" id="{C071D85A-599E-A8AB-C4B4-835FD194E541}"/>
              </a:ext>
            </a:extLst>
          </p:cNvPr>
          <p:cNvSpPr>
            <a:spLocks noGrp="1"/>
          </p:cNvSpPr>
          <p:nvPr>
            <p:ph type="title"/>
          </p:nvPr>
        </p:nvSpPr>
        <p:spPr/>
        <p:txBody>
          <a:bodyPr/>
          <a:lstStyle/>
          <a:p>
            <a:r>
              <a:rPr lang="en-US" dirty="0"/>
              <a:t>Dynamics of the Condon Region</a:t>
            </a:r>
          </a:p>
        </p:txBody>
      </p:sp>
      <p:sp>
        <p:nvSpPr>
          <p:cNvPr id="4" name="Date Placeholder 3">
            <a:extLst>
              <a:ext uri="{FF2B5EF4-FFF2-40B4-BE49-F238E27FC236}">
                <a16:creationId xmlns:a16="http://schemas.microsoft.com/office/drawing/2014/main" id="{9E61D475-B77B-1622-3F7F-45217CA2D75C}"/>
              </a:ext>
            </a:extLst>
          </p:cNvPr>
          <p:cNvSpPr>
            <a:spLocks noGrp="1"/>
          </p:cNvSpPr>
          <p:nvPr>
            <p:ph type="dt" sz="half" idx="10"/>
          </p:nvPr>
        </p:nvSpPr>
        <p:spPr/>
        <p:txBody>
          <a:bodyPr/>
          <a:lstStyle/>
          <a:p>
            <a:fld id="{85EDDD84-7411-4657-9048-E904991F6E19}" type="datetime1">
              <a:rPr lang="en-US" smtClean="0"/>
              <a:t>5/28/2026</a:t>
            </a:fld>
            <a:endParaRPr lang="en-US"/>
          </a:p>
        </p:txBody>
      </p:sp>
      <p:sp>
        <p:nvSpPr>
          <p:cNvPr id="5" name="Footer Placeholder 4">
            <a:extLst>
              <a:ext uri="{FF2B5EF4-FFF2-40B4-BE49-F238E27FC236}">
                <a16:creationId xmlns:a16="http://schemas.microsoft.com/office/drawing/2014/main" id="{721EA7C4-D02B-1C12-A196-BB89B7321CFF}"/>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60DB454A-AF89-8008-57B9-584173B6A0AA}"/>
              </a:ext>
            </a:extLst>
          </p:cNvPr>
          <p:cNvSpPr>
            <a:spLocks noGrp="1"/>
          </p:cNvSpPr>
          <p:nvPr>
            <p:ph type="sldNum" sz="quarter" idx="12"/>
          </p:nvPr>
        </p:nvSpPr>
        <p:spPr/>
        <p:txBody>
          <a:bodyPr/>
          <a:lstStyle/>
          <a:p>
            <a:fld id="{A18CFF8F-6617-428E-9314-96DE529C98C8}" type="slidenum">
              <a:rPr lang="en-US" smtClean="0"/>
              <a:t>16</a:t>
            </a:fld>
            <a:endParaRPr lang="en-US"/>
          </a:p>
        </p:txBody>
      </p:sp>
      <p:pic>
        <p:nvPicPr>
          <p:cNvPr id="10" name="Picture 9">
            <a:extLst>
              <a:ext uri="{FF2B5EF4-FFF2-40B4-BE49-F238E27FC236}">
                <a16:creationId xmlns:a16="http://schemas.microsoft.com/office/drawing/2014/main" id="{3FD7DAD5-EBF2-FD46-9851-70E9DCFAF685}"/>
              </a:ext>
            </a:extLst>
          </p:cNvPr>
          <p:cNvPicPr>
            <a:picLocks noChangeAspect="1"/>
          </p:cNvPicPr>
          <p:nvPr/>
        </p:nvPicPr>
        <p:blipFill>
          <a:blip r:embed="rId2"/>
          <a:stretch>
            <a:fillRect/>
          </a:stretch>
        </p:blipFill>
        <p:spPr>
          <a:xfrm>
            <a:off x="8787154" y="3303586"/>
            <a:ext cx="2443253" cy="2046620"/>
          </a:xfrm>
          <a:prstGeom prst="rect">
            <a:avLst/>
          </a:prstGeom>
        </p:spPr>
      </p:pic>
      <p:sp>
        <p:nvSpPr>
          <p:cNvPr id="12" name="TextBox 11">
            <a:extLst>
              <a:ext uri="{FF2B5EF4-FFF2-40B4-BE49-F238E27FC236}">
                <a16:creationId xmlns:a16="http://schemas.microsoft.com/office/drawing/2014/main" id="{A93CD0B3-3B44-B8AF-77F1-411F2F4CA61C}"/>
              </a:ext>
            </a:extLst>
          </p:cNvPr>
          <p:cNvSpPr txBox="1"/>
          <p:nvPr/>
        </p:nvSpPr>
        <p:spPr>
          <a:xfrm>
            <a:off x="625842" y="1605908"/>
            <a:ext cx="7679957" cy="4646082"/>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r>
              <a:rPr lang="en-US" sz="2000" dirty="0"/>
              <a:t>Number of resonantly ejected atoms increases as a function of pulse duration</a:t>
            </a:r>
          </a:p>
        </p:txBody>
      </p:sp>
      <p:pic>
        <p:nvPicPr>
          <p:cNvPr id="19" name="Picture 18">
            <a:extLst>
              <a:ext uri="{FF2B5EF4-FFF2-40B4-BE49-F238E27FC236}">
                <a16:creationId xmlns:a16="http://schemas.microsoft.com/office/drawing/2014/main" id="{7FF3DB7B-D909-84A4-CC17-6911E1CC4FE5}"/>
              </a:ext>
            </a:extLst>
          </p:cNvPr>
          <p:cNvPicPr>
            <a:picLocks noChangeAspect="1"/>
          </p:cNvPicPr>
          <p:nvPr/>
        </p:nvPicPr>
        <p:blipFill>
          <a:blip r:embed="rId3"/>
          <a:stretch>
            <a:fillRect/>
          </a:stretch>
        </p:blipFill>
        <p:spPr>
          <a:xfrm>
            <a:off x="847259" y="2598317"/>
            <a:ext cx="7237122" cy="3155385"/>
          </a:xfrm>
          <a:prstGeom prst="rect">
            <a:avLst/>
          </a:prstGeom>
        </p:spPr>
      </p:pic>
    </p:spTree>
    <p:extLst>
      <p:ext uri="{BB962C8B-B14F-4D97-AF65-F5344CB8AC3E}">
        <p14:creationId xmlns:p14="http://schemas.microsoft.com/office/powerpoint/2010/main" val="449783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F0E7D-49B1-6CFC-A09C-E92C7E7A34B3}"/>
              </a:ext>
            </a:extLst>
          </p:cNvPr>
          <p:cNvSpPr>
            <a:spLocks noGrp="1"/>
          </p:cNvSpPr>
          <p:nvPr>
            <p:ph type="title"/>
          </p:nvPr>
        </p:nvSpPr>
        <p:spPr/>
        <p:txBody>
          <a:bodyPr/>
          <a:lstStyle/>
          <a:p>
            <a:r>
              <a:rPr lang="en-US" dirty="0"/>
              <a:t>Partial Trace Picture</a:t>
            </a:r>
          </a:p>
        </p:txBody>
      </p:sp>
      <p:pic>
        <p:nvPicPr>
          <p:cNvPr id="8" name="Content Placeholder 7">
            <a:extLst>
              <a:ext uri="{FF2B5EF4-FFF2-40B4-BE49-F238E27FC236}">
                <a16:creationId xmlns:a16="http://schemas.microsoft.com/office/drawing/2014/main" id="{10A28658-76AE-252F-8497-3948E657662F}"/>
              </a:ext>
            </a:extLst>
          </p:cNvPr>
          <p:cNvPicPr>
            <a:picLocks noGrp="1" noChangeAspect="1"/>
          </p:cNvPicPr>
          <p:nvPr>
            <p:ph idx="1"/>
          </p:nvPr>
        </p:nvPicPr>
        <p:blipFill>
          <a:blip r:embed="rId3"/>
          <a:stretch>
            <a:fillRect/>
          </a:stretch>
        </p:blipFill>
        <p:spPr>
          <a:xfrm>
            <a:off x="1196700" y="1764630"/>
            <a:ext cx="7216765" cy="1181202"/>
          </a:xfrm>
          <a:prstGeom prst="rect">
            <a:avLst/>
          </a:prstGeom>
        </p:spPr>
      </p:pic>
      <p:sp>
        <p:nvSpPr>
          <p:cNvPr id="4" name="Date Placeholder 3">
            <a:extLst>
              <a:ext uri="{FF2B5EF4-FFF2-40B4-BE49-F238E27FC236}">
                <a16:creationId xmlns:a16="http://schemas.microsoft.com/office/drawing/2014/main" id="{D47BB9DD-B33F-DA87-B33F-2FDA3179E815}"/>
              </a:ext>
            </a:extLst>
          </p:cNvPr>
          <p:cNvSpPr>
            <a:spLocks noGrp="1"/>
          </p:cNvSpPr>
          <p:nvPr>
            <p:ph type="dt" sz="half" idx="10"/>
          </p:nvPr>
        </p:nvSpPr>
        <p:spPr/>
        <p:txBody>
          <a:bodyPr/>
          <a:lstStyle/>
          <a:p>
            <a:fld id="{85EDDD84-7411-4657-9048-E904991F6E19}" type="datetime1">
              <a:rPr lang="en-US" smtClean="0"/>
              <a:t>5/28/2026</a:t>
            </a:fld>
            <a:endParaRPr lang="en-US"/>
          </a:p>
        </p:txBody>
      </p:sp>
      <p:sp>
        <p:nvSpPr>
          <p:cNvPr id="5" name="Footer Placeholder 4">
            <a:extLst>
              <a:ext uri="{FF2B5EF4-FFF2-40B4-BE49-F238E27FC236}">
                <a16:creationId xmlns:a16="http://schemas.microsoft.com/office/drawing/2014/main" id="{D33997DC-370C-DEAB-2AB7-3C99A787C532}"/>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63619444-D7BD-0724-DB0B-7221F497E3AB}"/>
              </a:ext>
            </a:extLst>
          </p:cNvPr>
          <p:cNvSpPr>
            <a:spLocks noGrp="1"/>
          </p:cNvSpPr>
          <p:nvPr>
            <p:ph type="sldNum" sz="quarter" idx="12"/>
          </p:nvPr>
        </p:nvSpPr>
        <p:spPr/>
        <p:txBody>
          <a:bodyPr/>
          <a:lstStyle/>
          <a:p>
            <a:fld id="{A18CFF8F-6617-428E-9314-96DE529C98C8}" type="slidenum">
              <a:rPr lang="en-US" smtClean="0"/>
              <a:t>17</a:t>
            </a:fld>
            <a:endParaRPr lang="en-US"/>
          </a:p>
        </p:txBody>
      </p:sp>
      <p:pic>
        <p:nvPicPr>
          <p:cNvPr id="10" name="Picture 9">
            <a:extLst>
              <a:ext uri="{FF2B5EF4-FFF2-40B4-BE49-F238E27FC236}">
                <a16:creationId xmlns:a16="http://schemas.microsoft.com/office/drawing/2014/main" id="{74A9F613-880D-6D1A-56F4-966B58D0F9DE}"/>
              </a:ext>
            </a:extLst>
          </p:cNvPr>
          <p:cNvPicPr>
            <a:picLocks noChangeAspect="1"/>
          </p:cNvPicPr>
          <p:nvPr/>
        </p:nvPicPr>
        <p:blipFill>
          <a:blip r:embed="rId4"/>
          <a:stretch>
            <a:fillRect/>
          </a:stretch>
        </p:blipFill>
        <p:spPr>
          <a:xfrm>
            <a:off x="1196700" y="3595629"/>
            <a:ext cx="7849280" cy="2110923"/>
          </a:xfrm>
          <a:prstGeom prst="rect">
            <a:avLst/>
          </a:prstGeom>
        </p:spPr>
      </p:pic>
    </p:spTree>
    <p:extLst>
      <p:ext uri="{BB962C8B-B14F-4D97-AF65-F5344CB8AC3E}">
        <p14:creationId xmlns:p14="http://schemas.microsoft.com/office/powerpoint/2010/main" val="2347530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12405-70A1-C322-EDC7-9DE3D0AB3AFC}"/>
              </a:ext>
            </a:extLst>
          </p:cNvPr>
          <p:cNvSpPr>
            <a:spLocks noGrp="1"/>
          </p:cNvSpPr>
          <p:nvPr>
            <p:ph type="title"/>
          </p:nvPr>
        </p:nvSpPr>
        <p:spPr/>
        <p:txBody>
          <a:bodyPr/>
          <a:lstStyle/>
          <a:p>
            <a:r>
              <a:rPr lang="en-US" dirty="0"/>
              <a:t>Light pulses</a:t>
            </a:r>
          </a:p>
        </p:txBody>
      </p:sp>
      <p:pic>
        <p:nvPicPr>
          <p:cNvPr id="8" name="Content Placeholder 7">
            <a:extLst>
              <a:ext uri="{FF2B5EF4-FFF2-40B4-BE49-F238E27FC236}">
                <a16:creationId xmlns:a16="http://schemas.microsoft.com/office/drawing/2014/main" id="{C3F42763-3A44-21B6-A4AE-A8E98A0F281D}"/>
              </a:ext>
            </a:extLst>
          </p:cNvPr>
          <p:cNvPicPr>
            <a:picLocks noGrp="1" noChangeAspect="1"/>
          </p:cNvPicPr>
          <p:nvPr>
            <p:ph idx="1"/>
          </p:nvPr>
        </p:nvPicPr>
        <p:blipFill>
          <a:blip r:embed="rId2"/>
          <a:stretch>
            <a:fillRect/>
          </a:stretch>
        </p:blipFill>
        <p:spPr>
          <a:xfrm>
            <a:off x="6250609" y="1515219"/>
            <a:ext cx="4098997" cy="4351338"/>
          </a:xfrm>
          <a:prstGeom prst="rect">
            <a:avLst/>
          </a:prstGeom>
        </p:spPr>
      </p:pic>
      <p:sp>
        <p:nvSpPr>
          <p:cNvPr id="4" name="Date Placeholder 3">
            <a:extLst>
              <a:ext uri="{FF2B5EF4-FFF2-40B4-BE49-F238E27FC236}">
                <a16:creationId xmlns:a16="http://schemas.microsoft.com/office/drawing/2014/main" id="{CE33F3CE-F30A-182E-0A53-81908830DBC7}"/>
              </a:ext>
            </a:extLst>
          </p:cNvPr>
          <p:cNvSpPr>
            <a:spLocks noGrp="1"/>
          </p:cNvSpPr>
          <p:nvPr>
            <p:ph type="dt" sz="half" idx="10"/>
          </p:nvPr>
        </p:nvSpPr>
        <p:spPr/>
        <p:txBody>
          <a:bodyPr/>
          <a:lstStyle/>
          <a:p>
            <a:fld id="{85EDDD84-7411-4657-9048-E904991F6E19}" type="datetime1">
              <a:rPr lang="en-US" smtClean="0"/>
              <a:t>5/28/2026</a:t>
            </a:fld>
            <a:endParaRPr lang="en-US"/>
          </a:p>
        </p:txBody>
      </p:sp>
      <p:sp>
        <p:nvSpPr>
          <p:cNvPr id="5" name="Footer Placeholder 4">
            <a:extLst>
              <a:ext uri="{FF2B5EF4-FFF2-40B4-BE49-F238E27FC236}">
                <a16:creationId xmlns:a16="http://schemas.microsoft.com/office/drawing/2014/main" id="{F158CBFF-5491-3C0B-0B4A-2B443898BC03}"/>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5B89D276-9581-56F6-8B0A-62DFAE670E2A}"/>
              </a:ext>
            </a:extLst>
          </p:cNvPr>
          <p:cNvSpPr>
            <a:spLocks noGrp="1"/>
          </p:cNvSpPr>
          <p:nvPr>
            <p:ph type="sldNum" sz="quarter" idx="12"/>
          </p:nvPr>
        </p:nvSpPr>
        <p:spPr/>
        <p:txBody>
          <a:bodyPr/>
          <a:lstStyle/>
          <a:p>
            <a:fld id="{A18CFF8F-6617-428E-9314-96DE529C98C8}" type="slidenum">
              <a:rPr lang="en-US" smtClean="0"/>
              <a:t>18</a:t>
            </a:fld>
            <a:endParaRPr lang="en-US"/>
          </a:p>
        </p:txBody>
      </p:sp>
      <p:pic>
        <p:nvPicPr>
          <p:cNvPr id="9" name="Picture 8">
            <a:extLst>
              <a:ext uri="{FF2B5EF4-FFF2-40B4-BE49-F238E27FC236}">
                <a16:creationId xmlns:a16="http://schemas.microsoft.com/office/drawing/2014/main" id="{81027FB5-ACFB-82AF-F7B7-6DF7AFBF81C9}"/>
              </a:ext>
            </a:extLst>
          </p:cNvPr>
          <p:cNvPicPr>
            <a:picLocks noChangeAspect="1"/>
          </p:cNvPicPr>
          <p:nvPr/>
        </p:nvPicPr>
        <p:blipFill>
          <a:blip r:embed="rId3">
            <a:extLst>
              <a:ext uri="{28A0092B-C50C-407E-A947-70E740481C1C}">
                <a14:useLocalDpi xmlns:a14="http://schemas.microsoft.com/office/drawing/2010/main" val="0"/>
              </a:ext>
            </a:extLst>
          </a:blip>
          <a:srcRect r="36636"/>
          <a:stretch>
            <a:fillRect/>
          </a:stretch>
        </p:blipFill>
        <p:spPr>
          <a:xfrm>
            <a:off x="1126189" y="1515219"/>
            <a:ext cx="4815204" cy="4240122"/>
          </a:xfrm>
          <a:prstGeom prst="rect">
            <a:avLst/>
          </a:prstGeom>
        </p:spPr>
      </p:pic>
    </p:spTree>
    <p:extLst>
      <p:ext uri="{BB962C8B-B14F-4D97-AF65-F5344CB8AC3E}">
        <p14:creationId xmlns:p14="http://schemas.microsoft.com/office/powerpoint/2010/main" val="1795857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D2D41BC-033F-19B1-D0A2-192A0CF7404B}"/>
              </a:ext>
            </a:extLst>
          </p:cNvPr>
          <p:cNvSpPr txBox="1"/>
          <p:nvPr/>
        </p:nvSpPr>
        <p:spPr>
          <a:xfrm>
            <a:off x="4600353" y="389860"/>
            <a:ext cx="3806456" cy="4968949"/>
          </a:xfrm>
          <a:prstGeom prst="rect">
            <a:avLst/>
          </a:prstGeom>
          <a:solidFill>
            <a:schemeClr val="bg2"/>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4" name="Date Placeholder 3">
            <a:extLst>
              <a:ext uri="{FF2B5EF4-FFF2-40B4-BE49-F238E27FC236}">
                <a16:creationId xmlns:a16="http://schemas.microsoft.com/office/drawing/2014/main" id="{C854D056-11AB-A145-63CF-9361BB922C65}"/>
              </a:ext>
            </a:extLst>
          </p:cNvPr>
          <p:cNvSpPr>
            <a:spLocks noGrp="1"/>
          </p:cNvSpPr>
          <p:nvPr>
            <p:ph type="dt" sz="half" idx="10"/>
          </p:nvPr>
        </p:nvSpPr>
        <p:spPr/>
        <p:txBody>
          <a:bodyPr/>
          <a:lstStyle/>
          <a:p>
            <a:fld id="{85EDDD84-7411-4657-9048-E904991F6E19}" type="datetime1">
              <a:rPr lang="en-US" smtClean="0"/>
              <a:t>5/28/2026</a:t>
            </a:fld>
            <a:endParaRPr lang="en-US"/>
          </a:p>
        </p:txBody>
      </p:sp>
      <p:sp>
        <p:nvSpPr>
          <p:cNvPr id="5" name="Footer Placeholder 4">
            <a:extLst>
              <a:ext uri="{FF2B5EF4-FFF2-40B4-BE49-F238E27FC236}">
                <a16:creationId xmlns:a16="http://schemas.microsoft.com/office/drawing/2014/main" id="{613713B4-F674-7750-6D5E-53A2F81B628D}"/>
              </a:ext>
            </a:extLst>
          </p:cNvPr>
          <p:cNvSpPr>
            <a:spLocks noGrp="1"/>
          </p:cNvSpPr>
          <p:nvPr>
            <p:ph type="ftr" sz="quarter" idx="11"/>
          </p:nvPr>
        </p:nvSpPr>
        <p:spPr/>
        <p:txBody>
          <a:bodyPr/>
          <a:lstStyle/>
          <a:p>
            <a:r>
              <a:rPr lang="en-US"/>
              <a:t>Light Scattering from Closely-Spaced Atom Pairs</a:t>
            </a:r>
          </a:p>
        </p:txBody>
      </p:sp>
      <p:sp>
        <p:nvSpPr>
          <p:cNvPr id="6" name="Slide Number Placeholder 5">
            <a:extLst>
              <a:ext uri="{FF2B5EF4-FFF2-40B4-BE49-F238E27FC236}">
                <a16:creationId xmlns:a16="http://schemas.microsoft.com/office/drawing/2014/main" id="{DCB60FF0-FC91-9B75-0876-109AAB550AE6}"/>
              </a:ext>
            </a:extLst>
          </p:cNvPr>
          <p:cNvSpPr>
            <a:spLocks noGrp="1"/>
          </p:cNvSpPr>
          <p:nvPr>
            <p:ph type="sldNum" sz="quarter" idx="12"/>
          </p:nvPr>
        </p:nvSpPr>
        <p:spPr/>
        <p:txBody>
          <a:bodyPr/>
          <a:lstStyle/>
          <a:p>
            <a:fld id="{A18CFF8F-6617-428E-9314-96DE529C98C8}" type="slidenum">
              <a:rPr lang="en-US" smtClean="0"/>
              <a:t>19</a:t>
            </a:fld>
            <a:endParaRPr lang="en-US"/>
          </a:p>
        </p:txBody>
      </p:sp>
      <p:sp>
        <p:nvSpPr>
          <p:cNvPr id="7" name="TextBox 6">
            <a:extLst>
              <a:ext uri="{FF2B5EF4-FFF2-40B4-BE49-F238E27FC236}">
                <a16:creationId xmlns:a16="http://schemas.microsoft.com/office/drawing/2014/main" id="{27C2FAFA-B16F-529A-79C1-ABBABC4BEE66}"/>
              </a:ext>
            </a:extLst>
          </p:cNvPr>
          <p:cNvSpPr txBox="1"/>
          <p:nvPr/>
        </p:nvSpPr>
        <p:spPr>
          <a:xfrm>
            <a:off x="482009" y="680484"/>
            <a:ext cx="3099391" cy="4224669"/>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
        <p:nvSpPr>
          <p:cNvPr id="8" name="TextBox 7">
            <a:extLst>
              <a:ext uri="{FF2B5EF4-FFF2-40B4-BE49-F238E27FC236}">
                <a16:creationId xmlns:a16="http://schemas.microsoft.com/office/drawing/2014/main" id="{36DA7E81-9652-BF32-367D-AEA653D9DF59}"/>
              </a:ext>
            </a:extLst>
          </p:cNvPr>
          <p:cNvSpPr txBox="1"/>
          <p:nvPr/>
        </p:nvSpPr>
        <p:spPr>
          <a:xfrm>
            <a:off x="4933508" y="680484"/>
            <a:ext cx="3154325" cy="4224669"/>
          </a:xfrm>
          <a:prstGeom prst="rect">
            <a:avLst/>
          </a:prstGeom>
          <a:solidFill>
            <a:srgbClr val="FFFFFF">
              <a:alpha val="89804"/>
            </a:srgbClr>
          </a:solidFill>
          <a:ln w="28575">
            <a:noFill/>
          </a:ln>
          <a:effectLst/>
        </p:spPr>
        <p:txBody>
          <a:bodyPr vert="horz" wrap="square" lIns="91440" tIns="45720" rIns="91440" bIns="45720" rtlCol="0">
            <a:normAutofit/>
          </a:bodyPr>
          <a:lstStyle/>
          <a:p>
            <a:pPr marL="0" indent="0" algn="l">
              <a:lnSpc>
                <a:spcPct val="100000"/>
              </a:lnSpc>
              <a:spcBef>
                <a:spcPts val="0"/>
              </a:spcBef>
              <a:buFont typeface="Arial" panose="020B0604020202020204" pitchFamily="34" charset="0"/>
              <a:buNone/>
            </a:pPr>
            <a:endParaRPr lang="en-US" sz="1600" b="1" dirty="0"/>
          </a:p>
        </p:txBody>
      </p:sp>
    </p:spTree>
    <p:extLst>
      <p:ext uri="{BB962C8B-B14F-4D97-AF65-F5344CB8AC3E}">
        <p14:creationId xmlns:p14="http://schemas.microsoft.com/office/powerpoint/2010/main" val="2738657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solidFill>
          <a:srgbClr val="FFFFFF">
            <a:alpha val="89804"/>
          </a:srgbClr>
        </a:solidFill>
        <a:ln w="28575">
          <a:noFill/>
        </a:ln>
        <a:effectLst/>
      </a:spPr>
      <a:bodyPr vert="horz" wrap="square" lIns="91440" tIns="45720" rIns="91440" bIns="45720" rtlCol="0">
        <a:normAutofit/>
      </a:bodyPr>
      <a:lstStyle>
        <a:defPPr marL="0" indent="0" algn="l">
          <a:lnSpc>
            <a:spcPct val="100000"/>
          </a:lnSpc>
          <a:spcBef>
            <a:spcPts val="0"/>
          </a:spcBef>
          <a:buFont typeface="Arial" panose="020B0604020202020204" pitchFamily="34" charset="0"/>
          <a:buNone/>
          <a:defRPr sz="1600" b="1" dirty="0"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2087</TotalTime>
  <Words>1769</Words>
  <Application>Microsoft Office PowerPoint</Application>
  <PresentationFormat>Widescreen</PresentationFormat>
  <Paragraphs>206</Paragraphs>
  <Slides>19</Slides>
  <Notes>8</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Cambria Math</vt:lpstr>
      <vt:lpstr>Noto Sans</vt:lpstr>
      <vt:lpstr>Wingdings</vt:lpstr>
      <vt:lpstr>Office Theme</vt:lpstr>
      <vt:lpstr>Light Scattering from  Closely Spaced Atom Pairs</vt:lpstr>
      <vt:lpstr>Light Scattering from Single Atoms</vt:lpstr>
      <vt:lpstr>Collective Scattering</vt:lpstr>
      <vt:lpstr>The Role of Interactions</vt:lpstr>
      <vt:lpstr>Experiments and Results</vt:lpstr>
      <vt:lpstr>Elastic vs Inelastic Scattering</vt:lpstr>
      <vt:lpstr>Trapped vs Free Space</vt:lpstr>
      <vt:lpstr>Making Pairs: Doublons in a Mott Insulator</vt:lpstr>
      <vt:lpstr>Noninteracting: Dicke Superradiance</vt:lpstr>
      <vt:lpstr>Superradiance for Doublons</vt:lpstr>
      <vt:lpstr>The Condon Region</vt:lpstr>
      <vt:lpstr>Resonantly Ejected Atoms in Time-of-Flight</vt:lpstr>
      <vt:lpstr>Altering Wavefunction with Scattering Length</vt:lpstr>
      <vt:lpstr>Outlook</vt:lpstr>
      <vt:lpstr>Acknowledgments</vt:lpstr>
      <vt:lpstr>Dynamics of the Condon Region</vt:lpstr>
      <vt:lpstr>Partial Trace Picture</vt:lpstr>
      <vt:lpstr>Light pulses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eunice.yookyung.phy@gmail.com</dc:creator>
  <cp:lastModifiedBy>eunice.yookyung.phy@gmail.com</cp:lastModifiedBy>
  <cp:revision>44</cp:revision>
  <dcterms:created xsi:type="dcterms:W3CDTF">2026-05-26T14:10:21Z</dcterms:created>
  <dcterms:modified xsi:type="dcterms:W3CDTF">2026-05-28T22:07:38Z</dcterms:modified>
</cp:coreProperties>
</file>